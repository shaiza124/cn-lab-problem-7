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Arimo Bold" panose="020B0604020202020204" charset="0"/>
      <p:regular r:id="rId22"/>
    </p:embeddedFont>
    <p:embeddedFont>
      <p:font typeface="Canva Sans Bold" panose="020B0604020202020204" charset="0"/>
      <p:regular r:id="rId23"/>
    </p:embeddedFont>
    <p:embeddedFont>
      <p:font typeface="Nunito" pitchFamily="2" charset="0"/>
      <p:regular r:id="rId24"/>
      <p:bold r:id="rId25"/>
      <p:italic r:id="rId26"/>
      <p:boldItalic r:id="rId27"/>
    </p:embeddedFont>
    <p:embeddedFont>
      <p:font typeface="Open Sauce" panose="020B0604020202020204" charset="0"/>
      <p:regular r:id="rId28"/>
    </p:embeddedFont>
    <p:embeddedFont>
      <p:font typeface="Open Sauce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0"/>
            <a:ext cx="3086100" cy="10287000"/>
            <a:chOff x="0" y="0"/>
            <a:chExt cx="812800" cy="2709333"/>
          </a:xfrm>
        </p:grpSpPr>
        <p:sp>
          <p:nvSpPr>
            <p:cNvPr id="3" name="Freeform 3"/>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4" name="TextBox 4"/>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sp>
        <p:nvSpPr>
          <p:cNvPr id="5" name="TextBox 5"/>
          <p:cNvSpPr txBox="1"/>
          <p:nvPr/>
        </p:nvSpPr>
        <p:spPr>
          <a:xfrm>
            <a:off x="4039502" y="3331130"/>
            <a:ext cx="10208996" cy="1812370"/>
          </a:xfrm>
          <a:prstGeom prst="rect">
            <a:avLst/>
          </a:prstGeom>
        </p:spPr>
        <p:txBody>
          <a:bodyPr lIns="0" tIns="0" rIns="0" bIns="0" rtlCol="0" anchor="t">
            <a:spAutoFit/>
          </a:bodyPr>
          <a:lstStyle/>
          <a:p>
            <a:pPr algn="ctr">
              <a:lnSpc>
                <a:spcPts val="11791"/>
              </a:lnSpc>
            </a:pPr>
            <a:r>
              <a:rPr lang="en-US" sz="10343" b="1">
                <a:solidFill>
                  <a:srgbClr val="F0F0F0"/>
                </a:solidFill>
                <a:latin typeface="Calibri"/>
                <a:ea typeface="Agrandir Wide Bold"/>
                <a:cs typeface="Agrandir Wide Bold"/>
                <a:sym typeface="Agrandir Wide Bold"/>
              </a:rPr>
              <a:t>PROBLEM-7</a:t>
            </a:r>
          </a:p>
        </p:txBody>
      </p:sp>
      <p:grpSp>
        <p:nvGrpSpPr>
          <p:cNvPr id="6" name="Group 6"/>
          <p:cNvGrpSpPr/>
          <p:nvPr/>
        </p:nvGrpSpPr>
        <p:grpSpPr>
          <a:xfrm>
            <a:off x="4998272" y="5143500"/>
            <a:ext cx="8291455" cy="838151"/>
            <a:chOff x="0" y="0"/>
            <a:chExt cx="11055274" cy="1117534"/>
          </a:xfrm>
        </p:grpSpPr>
        <p:grpSp>
          <p:nvGrpSpPr>
            <p:cNvPr id="7" name="Group 7"/>
            <p:cNvGrpSpPr/>
            <p:nvPr/>
          </p:nvGrpSpPr>
          <p:grpSpPr>
            <a:xfrm>
              <a:off x="0" y="0"/>
              <a:ext cx="11055274" cy="1117534"/>
              <a:chOff x="0" y="0"/>
              <a:chExt cx="2183758" cy="220747"/>
            </a:xfrm>
          </p:grpSpPr>
          <p:sp>
            <p:nvSpPr>
              <p:cNvPr id="8" name="Freeform 8"/>
              <p:cNvSpPr/>
              <p:nvPr/>
            </p:nvSpPr>
            <p:spPr>
              <a:xfrm>
                <a:off x="0" y="0"/>
                <a:ext cx="2183758" cy="220747"/>
              </a:xfrm>
              <a:custGeom>
                <a:avLst/>
                <a:gdLst/>
                <a:ahLst/>
                <a:cxnLst/>
                <a:rect l="l" t="t" r="r" b="b"/>
                <a:pathLst>
                  <a:path w="2183758" h="220747">
                    <a:moveTo>
                      <a:pt x="93372" y="0"/>
                    </a:moveTo>
                    <a:lnTo>
                      <a:pt x="2090386" y="0"/>
                    </a:lnTo>
                    <a:cubicBezTo>
                      <a:pt x="2141954" y="0"/>
                      <a:pt x="2183758" y="41804"/>
                      <a:pt x="2183758" y="93372"/>
                    </a:cubicBezTo>
                    <a:lnTo>
                      <a:pt x="2183758" y="127375"/>
                    </a:lnTo>
                    <a:cubicBezTo>
                      <a:pt x="2183758" y="178943"/>
                      <a:pt x="2141954" y="220747"/>
                      <a:pt x="2090386" y="220747"/>
                    </a:cubicBezTo>
                    <a:lnTo>
                      <a:pt x="93372" y="220747"/>
                    </a:lnTo>
                    <a:cubicBezTo>
                      <a:pt x="41804" y="220747"/>
                      <a:pt x="0" y="178943"/>
                      <a:pt x="0" y="127375"/>
                    </a:cubicBezTo>
                    <a:lnTo>
                      <a:pt x="0" y="93372"/>
                    </a:lnTo>
                    <a:cubicBezTo>
                      <a:pt x="0" y="41804"/>
                      <a:pt x="41804" y="0"/>
                      <a:pt x="93372" y="0"/>
                    </a:cubicBezTo>
                    <a:close/>
                  </a:path>
                </a:pathLst>
              </a:custGeom>
              <a:ln w="38100" cap="rnd">
                <a:solidFill>
                  <a:srgbClr val="303870"/>
                </a:solidFill>
                <a:prstDash val="solid"/>
                <a:round/>
              </a:ln>
            </p:spPr>
          </p:sp>
          <p:sp>
            <p:nvSpPr>
              <p:cNvPr id="9" name="TextBox 9"/>
              <p:cNvSpPr txBox="1"/>
              <p:nvPr/>
            </p:nvSpPr>
            <p:spPr>
              <a:xfrm>
                <a:off x="0" y="-95250"/>
                <a:ext cx="2183758" cy="315997"/>
              </a:xfrm>
              <a:prstGeom prst="rect">
                <a:avLst/>
              </a:prstGeom>
            </p:spPr>
            <p:txBody>
              <a:bodyPr lIns="50800" tIns="50800" rIns="50800" bIns="50800" rtlCol="0" anchor="ctr"/>
              <a:lstStyle/>
              <a:p>
                <a:pPr algn="ctr">
                  <a:lnSpc>
                    <a:spcPts val="3287"/>
                  </a:lnSpc>
                </a:pPr>
                <a:endParaRPr/>
              </a:p>
            </p:txBody>
          </p:sp>
        </p:grpSp>
        <p:sp>
          <p:nvSpPr>
            <p:cNvPr id="10" name="TextBox 10"/>
            <p:cNvSpPr txBox="1"/>
            <p:nvPr/>
          </p:nvSpPr>
          <p:spPr>
            <a:xfrm>
              <a:off x="447026" y="164681"/>
              <a:ext cx="9790520" cy="721497"/>
            </a:xfrm>
            <a:prstGeom prst="rect">
              <a:avLst/>
            </a:prstGeom>
          </p:spPr>
          <p:txBody>
            <a:bodyPr lIns="0" tIns="0" rIns="0" bIns="0" rtlCol="0" anchor="t">
              <a:spAutoFit/>
            </a:bodyPr>
            <a:lstStyle/>
            <a:p>
              <a:pPr algn="ctr">
                <a:lnSpc>
                  <a:spcPts val="4522"/>
                </a:lnSpc>
              </a:pPr>
              <a:r>
                <a:rPr lang="en-US" sz="3230">
                  <a:solidFill>
                    <a:srgbClr val="303870"/>
                  </a:solidFill>
                  <a:latin typeface="Nunito"/>
                  <a:ea typeface="Nunito"/>
                  <a:cs typeface="Nunito"/>
                  <a:sym typeface="Nunito"/>
                </a:rPr>
                <a:t>PCAP Forensics and Attack Isolation</a:t>
              </a:r>
            </a:p>
          </p:txBody>
        </p:sp>
      </p:grpSp>
      <p:sp>
        <p:nvSpPr>
          <p:cNvPr id="11" name="Freeform 11"/>
          <p:cNvSpPr/>
          <p:nvPr/>
        </p:nvSpPr>
        <p:spPr>
          <a:xfrm>
            <a:off x="679284" y="536638"/>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12" name="Freeform 12"/>
          <p:cNvSpPr/>
          <p:nvPr/>
        </p:nvSpPr>
        <p:spPr>
          <a:xfrm rot="5400000">
            <a:off x="-1664294" y="2906886"/>
            <a:ext cx="4740498" cy="392017"/>
          </a:xfrm>
          <a:custGeom>
            <a:avLst/>
            <a:gdLst/>
            <a:ahLst/>
            <a:cxnLst/>
            <a:rect l="l" t="t" r="r" b="b"/>
            <a:pathLst>
              <a:path w="4740498" h="392017">
                <a:moveTo>
                  <a:pt x="0" y="0"/>
                </a:moveTo>
                <a:lnTo>
                  <a:pt x="4740497" y="0"/>
                </a:lnTo>
                <a:lnTo>
                  <a:pt x="4740497" y="392017"/>
                </a:lnTo>
                <a:lnTo>
                  <a:pt x="0" y="39201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13" name="Freeform 13"/>
          <p:cNvSpPr/>
          <p:nvPr/>
        </p:nvSpPr>
        <p:spPr>
          <a:xfrm rot="-10800000">
            <a:off x="644447" y="7027759"/>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TextBox 2"/>
          <p:cNvSpPr txBox="1"/>
          <p:nvPr/>
        </p:nvSpPr>
        <p:spPr>
          <a:xfrm>
            <a:off x="2118899" y="2280779"/>
            <a:ext cx="3440951" cy="598882"/>
          </a:xfrm>
          <a:prstGeom prst="rect">
            <a:avLst/>
          </a:prstGeom>
        </p:spPr>
        <p:txBody>
          <a:bodyPr lIns="0" tIns="0" rIns="0" bIns="0" rtlCol="0" anchor="t">
            <a:spAutoFit/>
          </a:bodyPr>
          <a:lstStyle/>
          <a:p>
            <a:pPr algn="l">
              <a:lnSpc>
                <a:spcPts val="5120"/>
              </a:lnSpc>
            </a:pPr>
            <a:r>
              <a:rPr lang="en-US" sz="3200" b="1" dirty="0">
                <a:solidFill>
                  <a:srgbClr val="F0F0F0"/>
                </a:solidFill>
                <a:latin typeface="Calibri"/>
                <a:ea typeface="Open Sauce Bold"/>
                <a:cs typeface="Open Sauce Bold"/>
                <a:sym typeface="Open Sauce Bold"/>
              </a:rPr>
              <a:t>Amna Nasrullah</a:t>
            </a:r>
          </a:p>
        </p:txBody>
      </p:sp>
      <p:sp>
        <p:nvSpPr>
          <p:cNvPr id="3" name="TextBox 3"/>
          <p:cNvSpPr txBox="1"/>
          <p:nvPr/>
        </p:nvSpPr>
        <p:spPr>
          <a:xfrm>
            <a:off x="1970761" y="3030302"/>
            <a:ext cx="4015214" cy="446725"/>
          </a:xfrm>
          <a:prstGeom prst="rect">
            <a:avLst/>
          </a:prstGeom>
        </p:spPr>
        <p:txBody>
          <a:bodyPr lIns="0" tIns="0" rIns="0" bIns="0" rtlCol="0" anchor="t">
            <a:spAutoFit/>
          </a:bodyPr>
          <a:lstStyle/>
          <a:p>
            <a:pPr>
              <a:lnSpc>
                <a:spcPts val="3840"/>
              </a:lnSpc>
            </a:pPr>
            <a:r>
              <a:rPr lang="en-US" sz="2400" dirty="0">
                <a:solidFill>
                  <a:srgbClr val="F0F0F0"/>
                </a:solidFill>
                <a:ea typeface="Open Sauce"/>
                <a:cs typeface="Open Sauce"/>
                <a:sym typeface="Open Sauce"/>
              </a:rPr>
              <a:t>Configuration Lead</a:t>
            </a:r>
            <a:endParaRPr lang="en-US" sz="2400" dirty="0">
              <a:solidFill>
                <a:srgbClr val="F0F0F0"/>
              </a:solidFill>
              <a:latin typeface="Calibri"/>
              <a:ea typeface="Open Sauce"/>
              <a:cs typeface="Open Sauce"/>
              <a:sym typeface="Open Sauce"/>
            </a:endParaRPr>
          </a:p>
        </p:txBody>
      </p:sp>
      <p:sp>
        <p:nvSpPr>
          <p:cNvPr id="4" name="AutoShape 4"/>
          <p:cNvSpPr/>
          <p:nvPr/>
        </p:nvSpPr>
        <p:spPr>
          <a:xfrm>
            <a:off x="1175924" y="5715000"/>
            <a:ext cx="15936153" cy="0"/>
          </a:xfrm>
          <a:prstGeom prst="line">
            <a:avLst/>
          </a:prstGeom>
          <a:ln w="38100" cap="flat">
            <a:solidFill>
              <a:srgbClr val="303870"/>
            </a:solidFill>
            <a:prstDash val="solid"/>
            <a:headEnd type="none" w="sm" len="sm"/>
            <a:tailEnd type="none" w="sm" len="sm"/>
          </a:ln>
        </p:spPr>
        <p:txBody>
          <a:bodyPr/>
          <a:lstStyle/>
          <a:p>
            <a:endParaRPr/>
          </a:p>
        </p:txBody>
      </p:sp>
      <p:sp>
        <p:nvSpPr>
          <p:cNvPr id="5" name="AutoShape 5"/>
          <p:cNvSpPr/>
          <p:nvPr/>
        </p:nvSpPr>
        <p:spPr>
          <a:xfrm>
            <a:off x="1747424" y="3785659"/>
            <a:ext cx="0" cy="1940701"/>
          </a:xfrm>
          <a:prstGeom prst="line">
            <a:avLst/>
          </a:prstGeom>
          <a:ln w="38100" cap="rnd">
            <a:solidFill>
              <a:srgbClr val="303870"/>
            </a:solidFill>
            <a:prstDash val="solid"/>
            <a:headEnd type="oval" w="lg" len="lg"/>
            <a:tailEnd type="none" w="sm" len="sm"/>
          </a:ln>
        </p:spPr>
        <p:txBody>
          <a:bodyPr/>
          <a:lstStyle/>
          <a:p>
            <a:endParaRPr/>
          </a:p>
        </p:txBody>
      </p:sp>
      <p:sp>
        <p:nvSpPr>
          <p:cNvPr id="9" name="TextBox 9"/>
          <p:cNvSpPr txBox="1"/>
          <p:nvPr/>
        </p:nvSpPr>
        <p:spPr>
          <a:xfrm>
            <a:off x="10057194" y="2414938"/>
            <a:ext cx="3440951" cy="598882"/>
          </a:xfrm>
          <a:prstGeom prst="rect">
            <a:avLst/>
          </a:prstGeom>
        </p:spPr>
        <p:txBody>
          <a:bodyPr lIns="0" tIns="0" rIns="0" bIns="0" rtlCol="0" anchor="t">
            <a:spAutoFit/>
          </a:bodyPr>
          <a:lstStyle/>
          <a:p>
            <a:pPr marL="0" lvl="0" indent="0" algn="l">
              <a:lnSpc>
                <a:spcPts val="5120"/>
              </a:lnSpc>
              <a:spcBef>
                <a:spcPct val="0"/>
              </a:spcBef>
            </a:pPr>
            <a:r>
              <a:rPr lang="en-US" sz="3200" b="1" dirty="0">
                <a:solidFill>
                  <a:srgbClr val="F0F0F0"/>
                </a:solidFill>
                <a:latin typeface="Calibri"/>
                <a:ea typeface="Open Sauce Bold"/>
                <a:cs typeface="Open Sauce Bold"/>
                <a:sym typeface="Open Sauce Bold"/>
              </a:rPr>
              <a:t>Haris </a:t>
            </a:r>
            <a:r>
              <a:rPr lang="en-US" sz="3200" b="1" dirty="0" err="1">
                <a:solidFill>
                  <a:srgbClr val="F0F0F0"/>
                </a:solidFill>
                <a:latin typeface="Calibri"/>
                <a:ea typeface="Open Sauce Bold"/>
                <a:cs typeface="Open Sauce Bold"/>
                <a:sym typeface="Open Sauce Bold"/>
              </a:rPr>
              <a:t>usman</a:t>
            </a:r>
            <a:endParaRPr lang="en-US" sz="3200" b="1" dirty="0">
              <a:solidFill>
                <a:srgbClr val="F0F0F0"/>
              </a:solidFill>
              <a:latin typeface="Calibri"/>
              <a:ea typeface="Open Sauce Bold"/>
              <a:cs typeface="Open Sauce Bold"/>
              <a:sym typeface="Open Sauce Bold"/>
            </a:endParaRPr>
          </a:p>
        </p:txBody>
      </p:sp>
      <p:sp>
        <p:nvSpPr>
          <p:cNvPr id="10" name="TextBox 10"/>
          <p:cNvSpPr txBox="1"/>
          <p:nvPr/>
        </p:nvSpPr>
        <p:spPr>
          <a:xfrm>
            <a:off x="10033605" y="2964481"/>
            <a:ext cx="4276027" cy="934038"/>
          </a:xfrm>
          <a:prstGeom prst="rect">
            <a:avLst/>
          </a:prstGeom>
        </p:spPr>
        <p:txBody>
          <a:bodyPr lIns="0" tIns="0" rIns="0" bIns="0" rtlCol="0" anchor="t">
            <a:spAutoFit/>
          </a:bodyPr>
          <a:lstStyle/>
          <a:p>
            <a:pPr>
              <a:lnSpc>
                <a:spcPts val="3840"/>
              </a:lnSpc>
            </a:pPr>
            <a:r>
              <a:rPr lang="en-US" sz="2400" dirty="0">
                <a:solidFill>
                  <a:srgbClr val="F0F0F0"/>
                </a:solidFill>
                <a:ea typeface="Open Sauce"/>
                <a:cs typeface="Open Sauce"/>
                <a:sym typeface="Open Sauce"/>
              </a:rPr>
              <a:t>Risk &amp; Resource Analyst / Deployment Lead</a:t>
            </a:r>
            <a:endParaRPr lang="en-US" sz="2400" dirty="0">
              <a:solidFill>
                <a:srgbClr val="F0F0F0"/>
              </a:solidFill>
              <a:latin typeface="Calibri"/>
              <a:ea typeface="Open Sauce"/>
              <a:cs typeface="Open Sauce"/>
              <a:sym typeface="Open Sauce"/>
            </a:endParaRPr>
          </a:p>
        </p:txBody>
      </p:sp>
      <p:sp>
        <p:nvSpPr>
          <p:cNvPr id="11" name="AutoShape 11"/>
          <p:cNvSpPr/>
          <p:nvPr/>
        </p:nvSpPr>
        <p:spPr>
          <a:xfrm>
            <a:off x="9707729" y="3785659"/>
            <a:ext cx="0" cy="1940701"/>
          </a:xfrm>
          <a:prstGeom prst="line">
            <a:avLst/>
          </a:prstGeom>
          <a:ln w="38100" cap="rnd">
            <a:solidFill>
              <a:srgbClr val="303870"/>
            </a:solidFill>
            <a:prstDash val="solid"/>
            <a:headEnd type="oval" w="lg" len="lg"/>
            <a:tailEnd type="none" w="sm" len="sm"/>
          </a:ln>
        </p:spPr>
        <p:txBody>
          <a:bodyPr/>
          <a:lstStyle/>
          <a:p>
            <a:endParaRPr/>
          </a:p>
        </p:txBody>
      </p:sp>
      <p:sp>
        <p:nvSpPr>
          <p:cNvPr id="12" name="TextBox 12"/>
          <p:cNvSpPr txBox="1"/>
          <p:nvPr/>
        </p:nvSpPr>
        <p:spPr>
          <a:xfrm>
            <a:off x="7162800" y="6125774"/>
            <a:ext cx="3440951" cy="598882"/>
          </a:xfrm>
          <a:prstGeom prst="rect">
            <a:avLst/>
          </a:prstGeom>
        </p:spPr>
        <p:txBody>
          <a:bodyPr lIns="0" tIns="0" rIns="0" bIns="0" rtlCol="0" anchor="t">
            <a:spAutoFit/>
          </a:bodyPr>
          <a:lstStyle/>
          <a:p>
            <a:pPr marL="0" lvl="0" indent="0" algn="l">
              <a:lnSpc>
                <a:spcPts val="5120"/>
              </a:lnSpc>
              <a:spcBef>
                <a:spcPct val="0"/>
              </a:spcBef>
            </a:pPr>
            <a:r>
              <a:rPr lang="en-US" sz="3200" b="1" dirty="0" err="1">
                <a:solidFill>
                  <a:srgbClr val="F0F0F0"/>
                </a:solidFill>
                <a:latin typeface="Calibri"/>
                <a:ea typeface="Open Sauce Bold"/>
                <a:cs typeface="Open Sauce Bold"/>
                <a:sym typeface="Open Sauce Bold"/>
              </a:rPr>
              <a:t>Shaiza</a:t>
            </a:r>
            <a:r>
              <a:rPr lang="en-US" sz="3200" b="1" dirty="0">
                <a:solidFill>
                  <a:srgbClr val="F0F0F0"/>
                </a:solidFill>
                <a:latin typeface="Calibri"/>
                <a:ea typeface="Open Sauce Bold"/>
                <a:cs typeface="Open Sauce Bold"/>
                <a:sym typeface="Open Sauce Bold"/>
              </a:rPr>
              <a:t> Parveen</a:t>
            </a:r>
          </a:p>
        </p:txBody>
      </p:sp>
      <p:sp>
        <p:nvSpPr>
          <p:cNvPr id="13" name="TextBox 13"/>
          <p:cNvSpPr txBox="1"/>
          <p:nvPr/>
        </p:nvSpPr>
        <p:spPr>
          <a:xfrm>
            <a:off x="7093950" y="6724656"/>
            <a:ext cx="3578650" cy="446725"/>
          </a:xfrm>
          <a:prstGeom prst="rect">
            <a:avLst/>
          </a:prstGeom>
        </p:spPr>
        <p:txBody>
          <a:bodyPr lIns="0" tIns="0" rIns="0" bIns="0" rtlCol="0" anchor="t">
            <a:spAutoFit/>
          </a:bodyPr>
          <a:lstStyle/>
          <a:p>
            <a:pPr>
              <a:lnSpc>
                <a:spcPts val="3840"/>
              </a:lnSpc>
            </a:pPr>
            <a:r>
              <a:rPr lang="en-US" sz="2400" dirty="0">
                <a:solidFill>
                  <a:srgbClr val="F0F0F0"/>
                </a:solidFill>
                <a:ea typeface="Open Sauce"/>
                <a:cs typeface="Open Sauce"/>
                <a:sym typeface="Open Sauce"/>
              </a:rPr>
              <a:t>Security Validation Analyst</a:t>
            </a:r>
            <a:endParaRPr lang="en-US" sz="2400" dirty="0">
              <a:solidFill>
                <a:srgbClr val="F0F0F0"/>
              </a:solidFill>
              <a:latin typeface="Calibri"/>
              <a:ea typeface="Open Sauce"/>
              <a:cs typeface="Open Sauce"/>
              <a:sym typeface="Open Sauce"/>
            </a:endParaRPr>
          </a:p>
        </p:txBody>
      </p:sp>
      <p:sp>
        <p:nvSpPr>
          <p:cNvPr id="14" name="AutoShape 14"/>
          <p:cNvSpPr/>
          <p:nvPr/>
        </p:nvSpPr>
        <p:spPr>
          <a:xfrm>
            <a:off x="6400800" y="5688189"/>
            <a:ext cx="0" cy="1940701"/>
          </a:xfrm>
          <a:prstGeom prst="line">
            <a:avLst/>
          </a:prstGeom>
          <a:ln w="38100" cap="rnd">
            <a:solidFill>
              <a:srgbClr val="303870"/>
            </a:solidFill>
            <a:prstDash val="solid"/>
            <a:headEnd type="none" w="sm" len="sm"/>
            <a:tailEnd type="oval" w="lg" len="lg"/>
          </a:ln>
        </p:spPr>
        <p:txBody>
          <a:bodyPr/>
          <a:lstStyle/>
          <a:p>
            <a:endParaRPr/>
          </a:p>
        </p:txBody>
      </p:sp>
      <p:sp>
        <p:nvSpPr>
          <p:cNvPr id="15" name="TextBox 15"/>
          <p:cNvSpPr txBox="1"/>
          <p:nvPr/>
        </p:nvSpPr>
        <p:spPr>
          <a:xfrm>
            <a:off x="3932769" y="857250"/>
            <a:ext cx="10422463" cy="1154162"/>
          </a:xfrm>
          <a:prstGeom prst="rect">
            <a:avLst/>
          </a:prstGeom>
        </p:spPr>
        <p:txBody>
          <a:bodyPr lIns="0" tIns="0" rIns="0" bIns="0" rtlCol="0" anchor="t">
            <a:spAutoFit/>
          </a:bodyPr>
          <a:lstStyle/>
          <a:p>
            <a:pPr algn="ctr">
              <a:lnSpc>
                <a:spcPts val="8974"/>
              </a:lnSpc>
            </a:pPr>
            <a:r>
              <a:rPr lang="en-US" sz="7872" b="1" dirty="0">
                <a:solidFill>
                  <a:srgbClr val="F0F0F0"/>
                </a:solidFill>
                <a:latin typeface="Calibri"/>
                <a:ea typeface="Agrandir Wide Bold"/>
                <a:cs typeface="Agrandir Wide Bold"/>
                <a:sym typeface="Agrandir Wide Bold"/>
              </a:rPr>
              <a:t>Group members</a:t>
            </a:r>
          </a:p>
        </p:txBody>
      </p:sp>
      <p:grpSp>
        <p:nvGrpSpPr>
          <p:cNvPr id="16" name="Group 16"/>
          <p:cNvGrpSpPr/>
          <p:nvPr/>
        </p:nvGrpSpPr>
        <p:grpSpPr>
          <a:xfrm>
            <a:off x="17421225" y="-33928"/>
            <a:ext cx="3086100" cy="10287000"/>
            <a:chOff x="0" y="0"/>
            <a:chExt cx="812800" cy="2709333"/>
          </a:xfrm>
        </p:grpSpPr>
        <p:sp>
          <p:nvSpPr>
            <p:cNvPr id="17" name="Freeform 17"/>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18" name="TextBox 18"/>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pSp>
        <p:nvGrpSpPr>
          <p:cNvPr id="2" name="Group 2"/>
          <p:cNvGrpSpPr/>
          <p:nvPr/>
        </p:nvGrpSpPr>
        <p:grpSpPr>
          <a:xfrm>
            <a:off x="17259300" y="0"/>
            <a:ext cx="3086100" cy="10287000"/>
            <a:chOff x="0" y="0"/>
            <a:chExt cx="812800" cy="2709333"/>
          </a:xfrm>
        </p:grpSpPr>
        <p:sp>
          <p:nvSpPr>
            <p:cNvPr id="3" name="Freeform 3"/>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4" name="TextBox 4"/>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sp>
        <p:nvSpPr>
          <p:cNvPr id="5" name="TextBox 5"/>
          <p:cNvSpPr txBox="1"/>
          <p:nvPr/>
        </p:nvSpPr>
        <p:spPr>
          <a:xfrm>
            <a:off x="1028700" y="1375895"/>
            <a:ext cx="10422463" cy="1369582"/>
          </a:xfrm>
          <a:prstGeom prst="rect">
            <a:avLst/>
          </a:prstGeom>
        </p:spPr>
        <p:txBody>
          <a:bodyPr lIns="0" tIns="0" rIns="0" bIns="0" rtlCol="0" anchor="t">
            <a:spAutoFit/>
          </a:bodyPr>
          <a:lstStyle/>
          <a:p>
            <a:pPr algn="l">
              <a:lnSpc>
                <a:spcPts val="8974"/>
              </a:lnSpc>
            </a:pPr>
            <a:r>
              <a:rPr lang="en-US" sz="7872" b="1">
                <a:solidFill>
                  <a:srgbClr val="F0F0F0"/>
                </a:solidFill>
                <a:latin typeface="Calibri"/>
                <a:ea typeface="Agrandir Wide Bold"/>
                <a:cs typeface="Agrandir Wide Bold"/>
                <a:sym typeface="Agrandir Wide Bold"/>
              </a:rPr>
              <a:t>OUR CONTENTS</a:t>
            </a:r>
          </a:p>
        </p:txBody>
      </p:sp>
      <p:grpSp>
        <p:nvGrpSpPr>
          <p:cNvPr id="6" name="Group 6"/>
          <p:cNvGrpSpPr/>
          <p:nvPr/>
        </p:nvGrpSpPr>
        <p:grpSpPr>
          <a:xfrm>
            <a:off x="1028700" y="3050647"/>
            <a:ext cx="5945748" cy="1002905"/>
            <a:chOff x="0" y="0"/>
            <a:chExt cx="1565958" cy="264140"/>
          </a:xfrm>
        </p:grpSpPr>
        <p:sp>
          <p:nvSpPr>
            <p:cNvPr id="7" name="Freeform 7"/>
            <p:cNvSpPr/>
            <p:nvPr/>
          </p:nvSpPr>
          <p:spPr>
            <a:xfrm>
              <a:off x="0" y="0"/>
              <a:ext cx="1565958" cy="264140"/>
            </a:xfrm>
            <a:custGeom>
              <a:avLst/>
              <a:gdLst/>
              <a:ahLst/>
              <a:cxnLst/>
              <a:rect l="l" t="t" r="r" b="b"/>
              <a:pathLst>
                <a:path w="1565958" h="264140">
                  <a:moveTo>
                    <a:pt x="130209" y="0"/>
                  </a:moveTo>
                  <a:lnTo>
                    <a:pt x="1435749" y="0"/>
                  </a:lnTo>
                  <a:cubicBezTo>
                    <a:pt x="1507662" y="0"/>
                    <a:pt x="1565958" y="58297"/>
                    <a:pt x="1565958" y="130209"/>
                  </a:cubicBezTo>
                  <a:lnTo>
                    <a:pt x="1565958" y="133930"/>
                  </a:lnTo>
                  <a:cubicBezTo>
                    <a:pt x="1565958" y="168464"/>
                    <a:pt x="1552240" y="201583"/>
                    <a:pt x="1527821" y="226002"/>
                  </a:cubicBezTo>
                  <a:cubicBezTo>
                    <a:pt x="1503402" y="250421"/>
                    <a:pt x="1470283" y="264140"/>
                    <a:pt x="1435749" y="264140"/>
                  </a:cubicBezTo>
                  <a:lnTo>
                    <a:pt x="130209" y="264140"/>
                  </a:lnTo>
                  <a:cubicBezTo>
                    <a:pt x="58297" y="264140"/>
                    <a:pt x="0" y="205843"/>
                    <a:pt x="0" y="133930"/>
                  </a:cubicBezTo>
                  <a:lnTo>
                    <a:pt x="0" y="130209"/>
                  </a:lnTo>
                  <a:cubicBezTo>
                    <a:pt x="0" y="58297"/>
                    <a:pt x="58297" y="0"/>
                    <a:pt x="130209" y="0"/>
                  </a:cubicBezTo>
                  <a:close/>
                </a:path>
              </a:pathLst>
            </a:custGeom>
            <a:ln w="38100" cap="rnd">
              <a:solidFill>
                <a:srgbClr val="303870"/>
              </a:solidFill>
              <a:prstDash val="solid"/>
              <a:round/>
            </a:ln>
          </p:spPr>
        </p:sp>
        <p:sp>
          <p:nvSpPr>
            <p:cNvPr id="8" name="TextBox 8"/>
            <p:cNvSpPr txBox="1"/>
            <p:nvPr/>
          </p:nvSpPr>
          <p:spPr>
            <a:xfrm>
              <a:off x="0" y="-95250"/>
              <a:ext cx="1565958" cy="359390"/>
            </a:xfrm>
            <a:prstGeom prst="rect">
              <a:avLst/>
            </a:prstGeom>
          </p:spPr>
          <p:txBody>
            <a:bodyPr lIns="50800" tIns="50800" rIns="50800" bIns="50800" rtlCol="0" anchor="ctr"/>
            <a:lstStyle/>
            <a:p>
              <a:pPr algn="ctr">
                <a:lnSpc>
                  <a:spcPts val="3287"/>
                </a:lnSpc>
              </a:pPr>
              <a:endParaRPr/>
            </a:p>
          </p:txBody>
        </p:sp>
      </p:grpSp>
      <p:grpSp>
        <p:nvGrpSpPr>
          <p:cNvPr id="9" name="Group 9"/>
          <p:cNvGrpSpPr/>
          <p:nvPr/>
        </p:nvGrpSpPr>
        <p:grpSpPr>
          <a:xfrm>
            <a:off x="7948765" y="4000193"/>
            <a:ext cx="6092292" cy="824885"/>
            <a:chOff x="0" y="0"/>
            <a:chExt cx="1604554" cy="217254"/>
          </a:xfrm>
        </p:grpSpPr>
        <p:sp>
          <p:nvSpPr>
            <p:cNvPr id="10" name="Freeform 10"/>
            <p:cNvSpPr/>
            <p:nvPr/>
          </p:nvSpPr>
          <p:spPr>
            <a:xfrm>
              <a:off x="0" y="0"/>
              <a:ext cx="1604554" cy="217254"/>
            </a:xfrm>
            <a:custGeom>
              <a:avLst/>
              <a:gdLst/>
              <a:ahLst/>
              <a:cxnLst/>
              <a:rect l="l" t="t" r="r" b="b"/>
              <a:pathLst>
                <a:path w="1604554" h="217254">
                  <a:moveTo>
                    <a:pt x="108627" y="0"/>
                  </a:moveTo>
                  <a:lnTo>
                    <a:pt x="1495927" y="0"/>
                  </a:lnTo>
                  <a:cubicBezTo>
                    <a:pt x="1524737" y="0"/>
                    <a:pt x="1552367" y="11445"/>
                    <a:pt x="1572738" y="31816"/>
                  </a:cubicBezTo>
                  <a:cubicBezTo>
                    <a:pt x="1593110" y="52188"/>
                    <a:pt x="1604554" y="79817"/>
                    <a:pt x="1604554" y="108627"/>
                  </a:cubicBezTo>
                  <a:lnTo>
                    <a:pt x="1604554" y="108627"/>
                  </a:lnTo>
                  <a:cubicBezTo>
                    <a:pt x="1604554" y="137436"/>
                    <a:pt x="1593110" y="165066"/>
                    <a:pt x="1572738" y="185438"/>
                  </a:cubicBezTo>
                  <a:cubicBezTo>
                    <a:pt x="1552367" y="205809"/>
                    <a:pt x="1524737" y="217254"/>
                    <a:pt x="1495927" y="217254"/>
                  </a:cubicBezTo>
                  <a:lnTo>
                    <a:pt x="108627" y="217254"/>
                  </a:lnTo>
                  <a:cubicBezTo>
                    <a:pt x="79817" y="217254"/>
                    <a:pt x="52188" y="205809"/>
                    <a:pt x="31816" y="185438"/>
                  </a:cubicBezTo>
                  <a:cubicBezTo>
                    <a:pt x="11445" y="165066"/>
                    <a:pt x="0" y="137436"/>
                    <a:pt x="0" y="108627"/>
                  </a:cubicBezTo>
                  <a:lnTo>
                    <a:pt x="0" y="108627"/>
                  </a:lnTo>
                  <a:cubicBezTo>
                    <a:pt x="0" y="79817"/>
                    <a:pt x="11445" y="52188"/>
                    <a:pt x="31816" y="31816"/>
                  </a:cubicBezTo>
                  <a:cubicBezTo>
                    <a:pt x="52188" y="11445"/>
                    <a:pt x="79817" y="0"/>
                    <a:pt x="108627" y="0"/>
                  </a:cubicBezTo>
                  <a:close/>
                </a:path>
              </a:pathLst>
            </a:custGeom>
            <a:ln w="38100" cap="rnd">
              <a:solidFill>
                <a:srgbClr val="303870"/>
              </a:solidFill>
              <a:prstDash val="solid"/>
              <a:round/>
            </a:ln>
          </p:spPr>
        </p:sp>
        <p:sp>
          <p:nvSpPr>
            <p:cNvPr id="11" name="TextBox 11"/>
            <p:cNvSpPr txBox="1"/>
            <p:nvPr/>
          </p:nvSpPr>
          <p:spPr>
            <a:xfrm>
              <a:off x="0" y="-95250"/>
              <a:ext cx="1604554" cy="312504"/>
            </a:xfrm>
            <a:prstGeom prst="rect">
              <a:avLst/>
            </a:prstGeom>
          </p:spPr>
          <p:txBody>
            <a:bodyPr lIns="50800" tIns="50800" rIns="50800" bIns="50800" rtlCol="0" anchor="ctr"/>
            <a:lstStyle/>
            <a:p>
              <a:pPr algn="ctr">
                <a:lnSpc>
                  <a:spcPts val="3287"/>
                </a:lnSpc>
              </a:pPr>
              <a:endParaRPr/>
            </a:p>
          </p:txBody>
        </p:sp>
      </p:grpSp>
      <p:grpSp>
        <p:nvGrpSpPr>
          <p:cNvPr id="12" name="Group 12"/>
          <p:cNvGrpSpPr/>
          <p:nvPr/>
        </p:nvGrpSpPr>
        <p:grpSpPr>
          <a:xfrm>
            <a:off x="1028700" y="4260025"/>
            <a:ext cx="5945748" cy="888853"/>
            <a:chOff x="0" y="0"/>
            <a:chExt cx="1565958" cy="234101"/>
          </a:xfrm>
        </p:grpSpPr>
        <p:sp>
          <p:nvSpPr>
            <p:cNvPr id="13" name="Freeform 13"/>
            <p:cNvSpPr/>
            <p:nvPr/>
          </p:nvSpPr>
          <p:spPr>
            <a:xfrm>
              <a:off x="0" y="0"/>
              <a:ext cx="1565958" cy="234101"/>
            </a:xfrm>
            <a:custGeom>
              <a:avLst/>
              <a:gdLst/>
              <a:ahLst/>
              <a:cxnLst/>
              <a:rect l="l" t="t" r="r" b="b"/>
              <a:pathLst>
                <a:path w="1565958" h="234101">
                  <a:moveTo>
                    <a:pt x="117051" y="0"/>
                  </a:moveTo>
                  <a:lnTo>
                    <a:pt x="1448908" y="0"/>
                  </a:lnTo>
                  <a:cubicBezTo>
                    <a:pt x="1479952" y="0"/>
                    <a:pt x="1509724" y="12332"/>
                    <a:pt x="1531675" y="34283"/>
                  </a:cubicBezTo>
                  <a:cubicBezTo>
                    <a:pt x="1553626" y="56235"/>
                    <a:pt x="1565958" y="86007"/>
                    <a:pt x="1565958" y="117051"/>
                  </a:cubicBezTo>
                  <a:lnTo>
                    <a:pt x="1565958" y="117051"/>
                  </a:lnTo>
                  <a:cubicBezTo>
                    <a:pt x="1565958" y="148094"/>
                    <a:pt x="1553626" y="177867"/>
                    <a:pt x="1531675" y="199818"/>
                  </a:cubicBezTo>
                  <a:cubicBezTo>
                    <a:pt x="1509724" y="221769"/>
                    <a:pt x="1479952" y="234101"/>
                    <a:pt x="1448908" y="234101"/>
                  </a:cubicBezTo>
                  <a:lnTo>
                    <a:pt x="117051" y="234101"/>
                  </a:lnTo>
                  <a:cubicBezTo>
                    <a:pt x="86007" y="234101"/>
                    <a:pt x="56235" y="221769"/>
                    <a:pt x="34283" y="199818"/>
                  </a:cubicBezTo>
                  <a:cubicBezTo>
                    <a:pt x="12332" y="177867"/>
                    <a:pt x="0" y="148094"/>
                    <a:pt x="0" y="117051"/>
                  </a:cubicBezTo>
                  <a:lnTo>
                    <a:pt x="0" y="117051"/>
                  </a:lnTo>
                  <a:cubicBezTo>
                    <a:pt x="0" y="86007"/>
                    <a:pt x="12332" y="56235"/>
                    <a:pt x="34283" y="34283"/>
                  </a:cubicBezTo>
                  <a:cubicBezTo>
                    <a:pt x="56235" y="12332"/>
                    <a:pt x="86007" y="0"/>
                    <a:pt x="117051" y="0"/>
                  </a:cubicBezTo>
                  <a:close/>
                </a:path>
              </a:pathLst>
            </a:custGeom>
            <a:ln w="38100" cap="rnd">
              <a:solidFill>
                <a:srgbClr val="303870"/>
              </a:solidFill>
              <a:prstDash val="solid"/>
              <a:round/>
            </a:ln>
          </p:spPr>
        </p:sp>
        <p:sp>
          <p:nvSpPr>
            <p:cNvPr id="14" name="TextBox 14"/>
            <p:cNvSpPr txBox="1"/>
            <p:nvPr/>
          </p:nvSpPr>
          <p:spPr>
            <a:xfrm>
              <a:off x="0" y="-95250"/>
              <a:ext cx="1565958" cy="329351"/>
            </a:xfrm>
            <a:prstGeom prst="rect">
              <a:avLst/>
            </a:prstGeom>
          </p:spPr>
          <p:txBody>
            <a:bodyPr lIns="50800" tIns="50800" rIns="50800" bIns="50800" rtlCol="0" anchor="ctr"/>
            <a:lstStyle/>
            <a:p>
              <a:pPr algn="ctr">
                <a:lnSpc>
                  <a:spcPts val="3287"/>
                </a:lnSpc>
              </a:pPr>
              <a:endParaRPr/>
            </a:p>
          </p:txBody>
        </p:sp>
      </p:grpSp>
      <p:grpSp>
        <p:nvGrpSpPr>
          <p:cNvPr id="15" name="Group 15"/>
          <p:cNvGrpSpPr/>
          <p:nvPr/>
        </p:nvGrpSpPr>
        <p:grpSpPr>
          <a:xfrm>
            <a:off x="7948765" y="4939377"/>
            <a:ext cx="6092292" cy="866726"/>
            <a:chOff x="0" y="0"/>
            <a:chExt cx="1604554" cy="228273"/>
          </a:xfrm>
        </p:grpSpPr>
        <p:sp>
          <p:nvSpPr>
            <p:cNvPr id="16" name="Freeform 16"/>
            <p:cNvSpPr/>
            <p:nvPr/>
          </p:nvSpPr>
          <p:spPr>
            <a:xfrm>
              <a:off x="0" y="0"/>
              <a:ext cx="1604554" cy="228273"/>
            </a:xfrm>
            <a:custGeom>
              <a:avLst/>
              <a:gdLst/>
              <a:ahLst/>
              <a:cxnLst/>
              <a:rect l="l" t="t" r="r" b="b"/>
              <a:pathLst>
                <a:path w="1604554" h="228273">
                  <a:moveTo>
                    <a:pt x="114137" y="0"/>
                  </a:moveTo>
                  <a:lnTo>
                    <a:pt x="1490418" y="0"/>
                  </a:lnTo>
                  <a:cubicBezTo>
                    <a:pt x="1520689" y="0"/>
                    <a:pt x="1549720" y="12025"/>
                    <a:pt x="1571124" y="33430"/>
                  </a:cubicBezTo>
                  <a:cubicBezTo>
                    <a:pt x="1592529" y="54835"/>
                    <a:pt x="1604554" y="83866"/>
                    <a:pt x="1604554" y="114137"/>
                  </a:cubicBezTo>
                  <a:lnTo>
                    <a:pt x="1604554" y="114137"/>
                  </a:lnTo>
                  <a:cubicBezTo>
                    <a:pt x="1604554" y="144408"/>
                    <a:pt x="1592529" y="173439"/>
                    <a:pt x="1571124" y="194844"/>
                  </a:cubicBezTo>
                  <a:cubicBezTo>
                    <a:pt x="1549720" y="216248"/>
                    <a:pt x="1520689" y="228273"/>
                    <a:pt x="1490418" y="228273"/>
                  </a:cubicBezTo>
                  <a:lnTo>
                    <a:pt x="114137" y="228273"/>
                  </a:lnTo>
                  <a:cubicBezTo>
                    <a:pt x="83866" y="228273"/>
                    <a:pt x="54835" y="216248"/>
                    <a:pt x="33430" y="194844"/>
                  </a:cubicBezTo>
                  <a:cubicBezTo>
                    <a:pt x="12025" y="173439"/>
                    <a:pt x="0" y="144408"/>
                    <a:pt x="0" y="114137"/>
                  </a:cubicBezTo>
                  <a:lnTo>
                    <a:pt x="0" y="114137"/>
                  </a:lnTo>
                  <a:cubicBezTo>
                    <a:pt x="0" y="83866"/>
                    <a:pt x="12025" y="54835"/>
                    <a:pt x="33430" y="33430"/>
                  </a:cubicBezTo>
                  <a:cubicBezTo>
                    <a:pt x="54835" y="12025"/>
                    <a:pt x="83866" y="0"/>
                    <a:pt x="114137" y="0"/>
                  </a:cubicBezTo>
                  <a:close/>
                </a:path>
              </a:pathLst>
            </a:custGeom>
            <a:ln w="38100" cap="rnd">
              <a:solidFill>
                <a:srgbClr val="303870"/>
              </a:solidFill>
              <a:prstDash val="solid"/>
              <a:round/>
            </a:ln>
          </p:spPr>
        </p:sp>
        <p:sp>
          <p:nvSpPr>
            <p:cNvPr id="17" name="TextBox 17"/>
            <p:cNvSpPr txBox="1"/>
            <p:nvPr/>
          </p:nvSpPr>
          <p:spPr>
            <a:xfrm>
              <a:off x="0" y="-95250"/>
              <a:ext cx="1604554" cy="323523"/>
            </a:xfrm>
            <a:prstGeom prst="rect">
              <a:avLst/>
            </a:prstGeom>
          </p:spPr>
          <p:txBody>
            <a:bodyPr lIns="50800" tIns="50800" rIns="50800" bIns="50800" rtlCol="0" anchor="ctr"/>
            <a:lstStyle/>
            <a:p>
              <a:pPr algn="ctr">
                <a:lnSpc>
                  <a:spcPts val="3287"/>
                </a:lnSpc>
              </a:pPr>
              <a:endParaRPr/>
            </a:p>
          </p:txBody>
        </p:sp>
      </p:grpSp>
      <p:grpSp>
        <p:nvGrpSpPr>
          <p:cNvPr id="18" name="Group 18"/>
          <p:cNvGrpSpPr/>
          <p:nvPr/>
        </p:nvGrpSpPr>
        <p:grpSpPr>
          <a:xfrm>
            <a:off x="1028700" y="5403684"/>
            <a:ext cx="5945748" cy="900088"/>
            <a:chOff x="0" y="0"/>
            <a:chExt cx="1565958" cy="237060"/>
          </a:xfrm>
        </p:grpSpPr>
        <p:sp>
          <p:nvSpPr>
            <p:cNvPr id="19" name="Freeform 19"/>
            <p:cNvSpPr/>
            <p:nvPr/>
          </p:nvSpPr>
          <p:spPr>
            <a:xfrm>
              <a:off x="0" y="0"/>
              <a:ext cx="1565958" cy="237060"/>
            </a:xfrm>
            <a:custGeom>
              <a:avLst/>
              <a:gdLst/>
              <a:ahLst/>
              <a:cxnLst/>
              <a:rect l="l" t="t" r="r" b="b"/>
              <a:pathLst>
                <a:path w="1565958" h="237060">
                  <a:moveTo>
                    <a:pt x="118530" y="0"/>
                  </a:moveTo>
                  <a:lnTo>
                    <a:pt x="1447428" y="0"/>
                  </a:lnTo>
                  <a:cubicBezTo>
                    <a:pt x="1478864" y="0"/>
                    <a:pt x="1509013" y="12488"/>
                    <a:pt x="1531242" y="34717"/>
                  </a:cubicBezTo>
                  <a:cubicBezTo>
                    <a:pt x="1553470" y="56945"/>
                    <a:pt x="1565958" y="87094"/>
                    <a:pt x="1565958" y="118530"/>
                  </a:cubicBezTo>
                  <a:lnTo>
                    <a:pt x="1565958" y="118530"/>
                  </a:lnTo>
                  <a:cubicBezTo>
                    <a:pt x="1565958" y="183992"/>
                    <a:pt x="1512891" y="237060"/>
                    <a:pt x="1447428" y="237060"/>
                  </a:cubicBezTo>
                  <a:lnTo>
                    <a:pt x="118530" y="237060"/>
                  </a:lnTo>
                  <a:cubicBezTo>
                    <a:pt x="87094" y="237060"/>
                    <a:pt x="56945" y="224572"/>
                    <a:pt x="34717" y="202344"/>
                  </a:cubicBezTo>
                  <a:cubicBezTo>
                    <a:pt x="12488" y="180115"/>
                    <a:pt x="0" y="149966"/>
                    <a:pt x="0" y="118530"/>
                  </a:cubicBezTo>
                  <a:lnTo>
                    <a:pt x="0" y="118530"/>
                  </a:lnTo>
                  <a:cubicBezTo>
                    <a:pt x="0" y="87094"/>
                    <a:pt x="12488" y="56945"/>
                    <a:pt x="34717" y="34717"/>
                  </a:cubicBezTo>
                  <a:cubicBezTo>
                    <a:pt x="56945" y="12488"/>
                    <a:pt x="87094" y="0"/>
                    <a:pt x="118530" y="0"/>
                  </a:cubicBezTo>
                  <a:close/>
                </a:path>
              </a:pathLst>
            </a:custGeom>
            <a:ln w="38100" cap="rnd">
              <a:solidFill>
                <a:srgbClr val="303870"/>
              </a:solidFill>
              <a:prstDash val="solid"/>
              <a:round/>
            </a:ln>
          </p:spPr>
        </p:sp>
        <p:sp>
          <p:nvSpPr>
            <p:cNvPr id="20" name="TextBox 20"/>
            <p:cNvSpPr txBox="1"/>
            <p:nvPr/>
          </p:nvSpPr>
          <p:spPr>
            <a:xfrm>
              <a:off x="0" y="-95250"/>
              <a:ext cx="1565958" cy="332310"/>
            </a:xfrm>
            <a:prstGeom prst="rect">
              <a:avLst/>
            </a:prstGeom>
          </p:spPr>
          <p:txBody>
            <a:bodyPr lIns="50800" tIns="50800" rIns="50800" bIns="50800" rtlCol="0" anchor="ctr"/>
            <a:lstStyle/>
            <a:p>
              <a:pPr algn="ctr">
                <a:lnSpc>
                  <a:spcPts val="3287"/>
                </a:lnSpc>
              </a:pPr>
              <a:endParaRPr/>
            </a:p>
          </p:txBody>
        </p:sp>
      </p:grpSp>
      <p:grpSp>
        <p:nvGrpSpPr>
          <p:cNvPr id="21" name="Group 21"/>
          <p:cNvGrpSpPr/>
          <p:nvPr/>
        </p:nvGrpSpPr>
        <p:grpSpPr>
          <a:xfrm>
            <a:off x="7948765" y="6044228"/>
            <a:ext cx="6092292" cy="828626"/>
            <a:chOff x="0" y="0"/>
            <a:chExt cx="1604554" cy="218239"/>
          </a:xfrm>
        </p:grpSpPr>
        <p:sp>
          <p:nvSpPr>
            <p:cNvPr id="22" name="Freeform 22"/>
            <p:cNvSpPr/>
            <p:nvPr/>
          </p:nvSpPr>
          <p:spPr>
            <a:xfrm>
              <a:off x="0" y="0"/>
              <a:ext cx="1604554" cy="218239"/>
            </a:xfrm>
            <a:custGeom>
              <a:avLst/>
              <a:gdLst/>
              <a:ahLst/>
              <a:cxnLst/>
              <a:rect l="l" t="t" r="r" b="b"/>
              <a:pathLst>
                <a:path w="1604554" h="218239">
                  <a:moveTo>
                    <a:pt x="109119" y="0"/>
                  </a:moveTo>
                  <a:lnTo>
                    <a:pt x="1495435" y="0"/>
                  </a:lnTo>
                  <a:cubicBezTo>
                    <a:pt x="1555700" y="0"/>
                    <a:pt x="1604554" y="48854"/>
                    <a:pt x="1604554" y="109119"/>
                  </a:cubicBezTo>
                  <a:lnTo>
                    <a:pt x="1604554" y="109119"/>
                  </a:lnTo>
                  <a:cubicBezTo>
                    <a:pt x="1604554" y="138060"/>
                    <a:pt x="1593058" y="165815"/>
                    <a:pt x="1572594" y="186279"/>
                  </a:cubicBezTo>
                  <a:cubicBezTo>
                    <a:pt x="1552130" y="206742"/>
                    <a:pt x="1524375" y="218239"/>
                    <a:pt x="1495435" y="218239"/>
                  </a:cubicBezTo>
                  <a:lnTo>
                    <a:pt x="109119" y="218239"/>
                  </a:lnTo>
                  <a:cubicBezTo>
                    <a:pt x="48854" y="218239"/>
                    <a:pt x="0" y="169384"/>
                    <a:pt x="0" y="109119"/>
                  </a:cubicBezTo>
                  <a:lnTo>
                    <a:pt x="0" y="109119"/>
                  </a:lnTo>
                  <a:cubicBezTo>
                    <a:pt x="0" y="48854"/>
                    <a:pt x="48854" y="0"/>
                    <a:pt x="109119" y="0"/>
                  </a:cubicBezTo>
                  <a:close/>
                </a:path>
              </a:pathLst>
            </a:custGeom>
            <a:ln w="38100" cap="rnd">
              <a:solidFill>
                <a:srgbClr val="303870"/>
              </a:solidFill>
              <a:prstDash val="solid"/>
              <a:round/>
            </a:ln>
          </p:spPr>
        </p:sp>
        <p:sp>
          <p:nvSpPr>
            <p:cNvPr id="23" name="TextBox 23"/>
            <p:cNvSpPr txBox="1"/>
            <p:nvPr/>
          </p:nvSpPr>
          <p:spPr>
            <a:xfrm>
              <a:off x="0" y="-95250"/>
              <a:ext cx="1604554" cy="313489"/>
            </a:xfrm>
            <a:prstGeom prst="rect">
              <a:avLst/>
            </a:prstGeom>
          </p:spPr>
          <p:txBody>
            <a:bodyPr lIns="50800" tIns="50800" rIns="50800" bIns="50800" rtlCol="0" anchor="ctr"/>
            <a:lstStyle/>
            <a:p>
              <a:pPr algn="ctr">
                <a:lnSpc>
                  <a:spcPts val="3287"/>
                </a:lnSpc>
              </a:pPr>
              <a:endParaRPr/>
            </a:p>
          </p:txBody>
        </p:sp>
      </p:grpSp>
      <p:grpSp>
        <p:nvGrpSpPr>
          <p:cNvPr id="24" name="Group 24"/>
          <p:cNvGrpSpPr/>
          <p:nvPr/>
        </p:nvGrpSpPr>
        <p:grpSpPr>
          <a:xfrm>
            <a:off x="1028700" y="6600343"/>
            <a:ext cx="5945748" cy="967786"/>
            <a:chOff x="0" y="0"/>
            <a:chExt cx="1565958" cy="254890"/>
          </a:xfrm>
        </p:grpSpPr>
        <p:sp>
          <p:nvSpPr>
            <p:cNvPr id="25" name="Freeform 25"/>
            <p:cNvSpPr/>
            <p:nvPr/>
          </p:nvSpPr>
          <p:spPr>
            <a:xfrm>
              <a:off x="0" y="0"/>
              <a:ext cx="1565958" cy="254890"/>
            </a:xfrm>
            <a:custGeom>
              <a:avLst/>
              <a:gdLst/>
              <a:ahLst/>
              <a:cxnLst/>
              <a:rect l="l" t="t" r="r" b="b"/>
              <a:pathLst>
                <a:path w="1565958" h="254890">
                  <a:moveTo>
                    <a:pt x="127445" y="0"/>
                  </a:moveTo>
                  <a:lnTo>
                    <a:pt x="1438513" y="0"/>
                  </a:lnTo>
                  <a:cubicBezTo>
                    <a:pt x="1508899" y="0"/>
                    <a:pt x="1565958" y="57059"/>
                    <a:pt x="1565958" y="127445"/>
                  </a:cubicBezTo>
                  <a:lnTo>
                    <a:pt x="1565958" y="127445"/>
                  </a:lnTo>
                  <a:cubicBezTo>
                    <a:pt x="1565958" y="197831"/>
                    <a:pt x="1508899" y="254890"/>
                    <a:pt x="1438513" y="254890"/>
                  </a:cubicBezTo>
                  <a:lnTo>
                    <a:pt x="127445" y="254890"/>
                  </a:lnTo>
                  <a:cubicBezTo>
                    <a:pt x="57059" y="254890"/>
                    <a:pt x="0" y="197831"/>
                    <a:pt x="0" y="127445"/>
                  </a:cubicBezTo>
                  <a:lnTo>
                    <a:pt x="0" y="127445"/>
                  </a:lnTo>
                  <a:cubicBezTo>
                    <a:pt x="0" y="57059"/>
                    <a:pt x="57059" y="0"/>
                    <a:pt x="127445" y="0"/>
                  </a:cubicBezTo>
                  <a:close/>
                </a:path>
              </a:pathLst>
            </a:custGeom>
            <a:ln w="38100" cap="rnd">
              <a:solidFill>
                <a:srgbClr val="303870"/>
              </a:solidFill>
              <a:prstDash val="solid"/>
              <a:round/>
            </a:ln>
          </p:spPr>
        </p:sp>
        <p:sp>
          <p:nvSpPr>
            <p:cNvPr id="26" name="TextBox 26"/>
            <p:cNvSpPr txBox="1"/>
            <p:nvPr/>
          </p:nvSpPr>
          <p:spPr>
            <a:xfrm>
              <a:off x="0" y="-95250"/>
              <a:ext cx="1565958" cy="350140"/>
            </a:xfrm>
            <a:prstGeom prst="rect">
              <a:avLst/>
            </a:prstGeom>
          </p:spPr>
          <p:txBody>
            <a:bodyPr lIns="50800" tIns="50800" rIns="50800" bIns="50800" rtlCol="0" anchor="ctr"/>
            <a:lstStyle/>
            <a:p>
              <a:pPr algn="ctr">
                <a:lnSpc>
                  <a:spcPts val="3287"/>
                </a:lnSpc>
              </a:pPr>
              <a:endParaRPr/>
            </a:p>
          </p:txBody>
        </p:sp>
      </p:grpSp>
      <p:grpSp>
        <p:nvGrpSpPr>
          <p:cNvPr id="27" name="Group 27"/>
          <p:cNvGrpSpPr/>
          <p:nvPr/>
        </p:nvGrpSpPr>
        <p:grpSpPr>
          <a:xfrm>
            <a:off x="7948765" y="6987154"/>
            <a:ext cx="6092292" cy="809576"/>
            <a:chOff x="0" y="0"/>
            <a:chExt cx="1604554" cy="213222"/>
          </a:xfrm>
        </p:grpSpPr>
        <p:sp>
          <p:nvSpPr>
            <p:cNvPr id="28" name="Freeform 28"/>
            <p:cNvSpPr/>
            <p:nvPr/>
          </p:nvSpPr>
          <p:spPr>
            <a:xfrm>
              <a:off x="0" y="0"/>
              <a:ext cx="1604554" cy="213222"/>
            </a:xfrm>
            <a:custGeom>
              <a:avLst/>
              <a:gdLst/>
              <a:ahLst/>
              <a:cxnLst/>
              <a:rect l="l" t="t" r="r" b="b"/>
              <a:pathLst>
                <a:path w="1604554" h="213222">
                  <a:moveTo>
                    <a:pt x="106611" y="0"/>
                  </a:moveTo>
                  <a:lnTo>
                    <a:pt x="1497944" y="0"/>
                  </a:lnTo>
                  <a:cubicBezTo>
                    <a:pt x="1526218" y="0"/>
                    <a:pt x="1553335" y="11232"/>
                    <a:pt x="1573329" y="31226"/>
                  </a:cubicBezTo>
                  <a:cubicBezTo>
                    <a:pt x="1593322" y="51219"/>
                    <a:pt x="1604554" y="78336"/>
                    <a:pt x="1604554" y="106611"/>
                  </a:cubicBezTo>
                  <a:lnTo>
                    <a:pt x="1604554" y="106611"/>
                  </a:lnTo>
                  <a:cubicBezTo>
                    <a:pt x="1604554" y="134886"/>
                    <a:pt x="1593322" y="162003"/>
                    <a:pt x="1573329" y="181996"/>
                  </a:cubicBezTo>
                  <a:cubicBezTo>
                    <a:pt x="1553335" y="201989"/>
                    <a:pt x="1526218" y="213222"/>
                    <a:pt x="1497944" y="213222"/>
                  </a:cubicBezTo>
                  <a:lnTo>
                    <a:pt x="106611" y="213222"/>
                  </a:lnTo>
                  <a:cubicBezTo>
                    <a:pt x="78336" y="213222"/>
                    <a:pt x="51219" y="201989"/>
                    <a:pt x="31226" y="181996"/>
                  </a:cubicBezTo>
                  <a:cubicBezTo>
                    <a:pt x="11232" y="162003"/>
                    <a:pt x="0" y="134886"/>
                    <a:pt x="0" y="106611"/>
                  </a:cubicBezTo>
                  <a:lnTo>
                    <a:pt x="0" y="106611"/>
                  </a:lnTo>
                  <a:cubicBezTo>
                    <a:pt x="0" y="78336"/>
                    <a:pt x="11232" y="51219"/>
                    <a:pt x="31226" y="31226"/>
                  </a:cubicBezTo>
                  <a:cubicBezTo>
                    <a:pt x="51219" y="11232"/>
                    <a:pt x="78336" y="0"/>
                    <a:pt x="106611" y="0"/>
                  </a:cubicBezTo>
                  <a:close/>
                </a:path>
              </a:pathLst>
            </a:custGeom>
            <a:ln w="38100" cap="rnd">
              <a:solidFill>
                <a:srgbClr val="303870"/>
              </a:solidFill>
              <a:prstDash val="solid"/>
              <a:round/>
            </a:ln>
          </p:spPr>
        </p:sp>
        <p:sp>
          <p:nvSpPr>
            <p:cNvPr id="29" name="TextBox 29"/>
            <p:cNvSpPr txBox="1"/>
            <p:nvPr/>
          </p:nvSpPr>
          <p:spPr>
            <a:xfrm>
              <a:off x="0" y="-95250"/>
              <a:ext cx="1604554" cy="308472"/>
            </a:xfrm>
            <a:prstGeom prst="rect">
              <a:avLst/>
            </a:prstGeom>
          </p:spPr>
          <p:txBody>
            <a:bodyPr lIns="50800" tIns="50800" rIns="50800" bIns="50800" rtlCol="0" anchor="ctr"/>
            <a:lstStyle/>
            <a:p>
              <a:pPr algn="ctr">
                <a:lnSpc>
                  <a:spcPts val="3287"/>
                </a:lnSpc>
              </a:pPr>
              <a:endParaRPr/>
            </a:p>
          </p:txBody>
        </p:sp>
      </p:grpSp>
      <p:grpSp>
        <p:nvGrpSpPr>
          <p:cNvPr id="30" name="Group 30"/>
          <p:cNvGrpSpPr/>
          <p:nvPr/>
        </p:nvGrpSpPr>
        <p:grpSpPr>
          <a:xfrm>
            <a:off x="1028700" y="7825304"/>
            <a:ext cx="5945748" cy="925463"/>
            <a:chOff x="0" y="0"/>
            <a:chExt cx="1565958" cy="243743"/>
          </a:xfrm>
        </p:grpSpPr>
        <p:sp>
          <p:nvSpPr>
            <p:cNvPr id="31" name="Freeform 31"/>
            <p:cNvSpPr/>
            <p:nvPr/>
          </p:nvSpPr>
          <p:spPr>
            <a:xfrm>
              <a:off x="0" y="0"/>
              <a:ext cx="1565958" cy="243743"/>
            </a:xfrm>
            <a:custGeom>
              <a:avLst/>
              <a:gdLst/>
              <a:ahLst/>
              <a:cxnLst/>
              <a:rect l="l" t="t" r="r" b="b"/>
              <a:pathLst>
                <a:path w="1565958" h="243743">
                  <a:moveTo>
                    <a:pt x="121872" y="0"/>
                  </a:moveTo>
                  <a:lnTo>
                    <a:pt x="1444087" y="0"/>
                  </a:lnTo>
                  <a:cubicBezTo>
                    <a:pt x="1476409" y="0"/>
                    <a:pt x="1507408" y="12840"/>
                    <a:pt x="1530263" y="35695"/>
                  </a:cubicBezTo>
                  <a:cubicBezTo>
                    <a:pt x="1553118" y="58551"/>
                    <a:pt x="1565958" y="89549"/>
                    <a:pt x="1565958" y="121872"/>
                  </a:cubicBezTo>
                  <a:lnTo>
                    <a:pt x="1565958" y="121872"/>
                  </a:lnTo>
                  <a:cubicBezTo>
                    <a:pt x="1565958" y="189180"/>
                    <a:pt x="1511395" y="243743"/>
                    <a:pt x="1444087" y="243743"/>
                  </a:cubicBezTo>
                  <a:lnTo>
                    <a:pt x="121872" y="243743"/>
                  </a:lnTo>
                  <a:cubicBezTo>
                    <a:pt x="89549" y="243743"/>
                    <a:pt x="58551" y="230903"/>
                    <a:pt x="35695" y="208048"/>
                  </a:cubicBezTo>
                  <a:cubicBezTo>
                    <a:pt x="12840" y="185193"/>
                    <a:pt x="0" y="154194"/>
                    <a:pt x="0" y="121872"/>
                  </a:cubicBezTo>
                  <a:lnTo>
                    <a:pt x="0" y="121872"/>
                  </a:lnTo>
                  <a:cubicBezTo>
                    <a:pt x="0" y="89549"/>
                    <a:pt x="12840" y="58551"/>
                    <a:pt x="35695" y="35695"/>
                  </a:cubicBezTo>
                  <a:cubicBezTo>
                    <a:pt x="58551" y="12840"/>
                    <a:pt x="89549" y="0"/>
                    <a:pt x="121872" y="0"/>
                  </a:cubicBezTo>
                  <a:close/>
                </a:path>
              </a:pathLst>
            </a:custGeom>
            <a:ln w="38100" cap="rnd">
              <a:solidFill>
                <a:srgbClr val="303870"/>
              </a:solidFill>
              <a:prstDash val="solid"/>
              <a:round/>
            </a:ln>
          </p:spPr>
        </p:sp>
        <p:sp>
          <p:nvSpPr>
            <p:cNvPr id="32" name="TextBox 32"/>
            <p:cNvSpPr txBox="1"/>
            <p:nvPr/>
          </p:nvSpPr>
          <p:spPr>
            <a:xfrm>
              <a:off x="0" y="-95250"/>
              <a:ext cx="1565958" cy="338993"/>
            </a:xfrm>
            <a:prstGeom prst="rect">
              <a:avLst/>
            </a:prstGeom>
          </p:spPr>
          <p:txBody>
            <a:bodyPr lIns="50800" tIns="50800" rIns="50800" bIns="50800" rtlCol="0" anchor="ctr"/>
            <a:lstStyle/>
            <a:p>
              <a:pPr algn="ctr">
                <a:lnSpc>
                  <a:spcPts val="3287"/>
                </a:lnSpc>
              </a:pPr>
              <a:endParaRPr/>
            </a:p>
          </p:txBody>
        </p:sp>
      </p:grpSp>
      <p:grpSp>
        <p:nvGrpSpPr>
          <p:cNvPr id="33" name="Group 33"/>
          <p:cNvGrpSpPr/>
          <p:nvPr/>
        </p:nvGrpSpPr>
        <p:grpSpPr>
          <a:xfrm>
            <a:off x="7948765" y="8044379"/>
            <a:ext cx="6092292" cy="854296"/>
            <a:chOff x="0" y="0"/>
            <a:chExt cx="1604554" cy="225000"/>
          </a:xfrm>
        </p:grpSpPr>
        <p:sp>
          <p:nvSpPr>
            <p:cNvPr id="34" name="Freeform 34"/>
            <p:cNvSpPr/>
            <p:nvPr/>
          </p:nvSpPr>
          <p:spPr>
            <a:xfrm>
              <a:off x="0" y="0"/>
              <a:ext cx="1604554" cy="225000"/>
            </a:xfrm>
            <a:custGeom>
              <a:avLst/>
              <a:gdLst/>
              <a:ahLst/>
              <a:cxnLst/>
              <a:rect l="l" t="t" r="r" b="b"/>
              <a:pathLst>
                <a:path w="1604554" h="225000">
                  <a:moveTo>
                    <a:pt x="112500" y="0"/>
                  </a:moveTo>
                  <a:lnTo>
                    <a:pt x="1492054" y="0"/>
                  </a:lnTo>
                  <a:cubicBezTo>
                    <a:pt x="1554186" y="0"/>
                    <a:pt x="1604554" y="50368"/>
                    <a:pt x="1604554" y="112500"/>
                  </a:cubicBezTo>
                  <a:lnTo>
                    <a:pt x="1604554" y="112500"/>
                  </a:lnTo>
                  <a:cubicBezTo>
                    <a:pt x="1604554" y="142337"/>
                    <a:pt x="1592702" y="170951"/>
                    <a:pt x="1571604" y="192049"/>
                  </a:cubicBezTo>
                  <a:cubicBezTo>
                    <a:pt x="1550506" y="213147"/>
                    <a:pt x="1521891" y="225000"/>
                    <a:pt x="1492054" y="225000"/>
                  </a:cubicBezTo>
                  <a:lnTo>
                    <a:pt x="112500" y="225000"/>
                  </a:lnTo>
                  <a:cubicBezTo>
                    <a:pt x="50368" y="225000"/>
                    <a:pt x="0" y="174632"/>
                    <a:pt x="0" y="112500"/>
                  </a:cubicBezTo>
                  <a:lnTo>
                    <a:pt x="0" y="112500"/>
                  </a:lnTo>
                  <a:cubicBezTo>
                    <a:pt x="0" y="50368"/>
                    <a:pt x="50368" y="0"/>
                    <a:pt x="112500" y="0"/>
                  </a:cubicBezTo>
                  <a:close/>
                </a:path>
              </a:pathLst>
            </a:custGeom>
            <a:ln w="38100" cap="rnd">
              <a:solidFill>
                <a:srgbClr val="303870"/>
              </a:solidFill>
              <a:prstDash val="solid"/>
              <a:round/>
            </a:ln>
          </p:spPr>
        </p:sp>
        <p:sp>
          <p:nvSpPr>
            <p:cNvPr id="35" name="TextBox 35"/>
            <p:cNvSpPr txBox="1"/>
            <p:nvPr/>
          </p:nvSpPr>
          <p:spPr>
            <a:xfrm>
              <a:off x="0" y="-95250"/>
              <a:ext cx="1604554" cy="320250"/>
            </a:xfrm>
            <a:prstGeom prst="rect">
              <a:avLst/>
            </a:prstGeom>
          </p:spPr>
          <p:txBody>
            <a:bodyPr lIns="50800" tIns="50800" rIns="50800" bIns="50800" rtlCol="0" anchor="ctr"/>
            <a:lstStyle/>
            <a:p>
              <a:pPr algn="ctr">
                <a:lnSpc>
                  <a:spcPts val="3287"/>
                </a:lnSpc>
              </a:pPr>
              <a:endParaRPr/>
            </a:p>
          </p:txBody>
        </p:sp>
      </p:grpSp>
      <p:sp>
        <p:nvSpPr>
          <p:cNvPr id="36" name="TextBox 36"/>
          <p:cNvSpPr txBox="1"/>
          <p:nvPr/>
        </p:nvSpPr>
        <p:spPr>
          <a:xfrm>
            <a:off x="1285620" y="3323993"/>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01. Problem Scenario</a:t>
            </a:r>
          </a:p>
        </p:txBody>
      </p:sp>
      <p:sp>
        <p:nvSpPr>
          <p:cNvPr id="37" name="TextBox 37"/>
          <p:cNvSpPr txBox="1"/>
          <p:nvPr/>
        </p:nvSpPr>
        <p:spPr>
          <a:xfrm>
            <a:off x="8115448" y="4126923"/>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08. Event Timeline</a:t>
            </a:r>
          </a:p>
        </p:txBody>
      </p:sp>
      <p:sp>
        <p:nvSpPr>
          <p:cNvPr id="38" name="TextBox 38"/>
          <p:cNvSpPr txBox="1"/>
          <p:nvPr/>
        </p:nvSpPr>
        <p:spPr>
          <a:xfrm>
            <a:off x="1285620" y="4493769"/>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02. Methodology</a:t>
            </a:r>
          </a:p>
        </p:txBody>
      </p:sp>
      <p:sp>
        <p:nvSpPr>
          <p:cNvPr id="39" name="TextBox 39"/>
          <p:cNvSpPr txBox="1"/>
          <p:nvPr/>
        </p:nvSpPr>
        <p:spPr>
          <a:xfrm>
            <a:off x="8115448" y="5076825"/>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09. VLAN Segmentation</a:t>
            </a:r>
          </a:p>
        </p:txBody>
      </p:sp>
      <p:sp>
        <p:nvSpPr>
          <p:cNvPr id="40" name="TextBox 40"/>
          <p:cNvSpPr txBox="1"/>
          <p:nvPr/>
        </p:nvSpPr>
        <p:spPr>
          <a:xfrm>
            <a:off x="1186612" y="6806179"/>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04. Device Identification</a:t>
            </a:r>
          </a:p>
        </p:txBody>
      </p:sp>
      <p:sp>
        <p:nvSpPr>
          <p:cNvPr id="41" name="TextBox 41"/>
          <p:cNvSpPr txBox="1"/>
          <p:nvPr/>
        </p:nvSpPr>
        <p:spPr>
          <a:xfrm>
            <a:off x="8262766" y="6147146"/>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10. Risk Assessment </a:t>
            </a:r>
          </a:p>
        </p:txBody>
      </p:sp>
      <p:sp>
        <p:nvSpPr>
          <p:cNvPr id="42" name="TextBox 42"/>
          <p:cNvSpPr txBox="1"/>
          <p:nvPr/>
        </p:nvSpPr>
        <p:spPr>
          <a:xfrm>
            <a:off x="1186612" y="8009184"/>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05. C2-Server</a:t>
            </a:r>
          </a:p>
        </p:txBody>
      </p:sp>
      <p:sp>
        <p:nvSpPr>
          <p:cNvPr id="43" name="TextBox 43"/>
          <p:cNvSpPr txBox="1"/>
          <p:nvPr/>
        </p:nvSpPr>
        <p:spPr>
          <a:xfrm>
            <a:off x="8205685" y="8139629"/>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12. GitHub Repo Demo</a:t>
            </a:r>
          </a:p>
        </p:txBody>
      </p:sp>
      <p:sp>
        <p:nvSpPr>
          <p:cNvPr id="44" name="TextBox 44"/>
          <p:cNvSpPr txBox="1"/>
          <p:nvPr/>
        </p:nvSpPr>
        <p:spPr>
          <a:xfrm>
            <a:off x="1285620" y="9141292"/>
            <a:ext cx="4671086"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06. Brute Force</a:t>
            </a:r>
          </a:p>
        </p:txBody>
      </p:sp>
      <p:sp>
        <p:nvSpPr>
          <p:cNvPr id="45" name="TextBox 45"/>
          <p:cNvSpPr txBox="1"/>
          <p:nvPr/>
        </p:nvSpPr>
        <p:spPr>
          <a:xfrm>
            <a:off x="8262766" y="9148392"/>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13. Conclusion</a:t>
            </a:r>
          </a:p>
        </p:txBody>
      </p:sp>
      <p:grpSp>
        <p:nvGrpSpPr>
          <p:cNvPr id="46" name="Group 46"/>
          <p:cNvGrpSpPr/>
          <p:nvPr/>
        </p:nvGrpSpPr>
        <p:grpSpPr>
          <a:xfrm>
            <a:off x="1028700" y="8898675"/>
            <a:ext cx="5945748" cy="983227"/>
            <a:chOff x="0" y="0"/>
            <a:chExt cx="1565958" cy="258957"/>
          </a:xfrm>
        </p:grpSpPr>
        <p:sp>
          <p:nvSpPr>
            <p:cNvPr id="47" name="Freeform 47"/>
            <p:cNvSpPr/>
            <p:nvPr/>
          </p:nvSpPr>
          <p:spPr>
            <a:xfrm>
              <a:off x="0" y="0"/>
              <a:ext cx="1565958" cy="258957"/>
            </a:xfrm>
            <a:custGeom>
              <a:avLst/>
              <a:gdLst/>
              <a:ahLst/>
              <a:cxnLst/>
              <a:rect l="l" t="t" r="r" b="b"/>
              <a:pathLst>
                <a:path w="1565958" h="258957">
                  <a:moveTo>
                    <a:pt x="129478" y="0"/>
                  </a:moveTo>
                  <a:lnTo>
                    <a:pt x="1436480" y="0"/>
                  </a:lnTo>
                  <a:cubicBezTo>
                    <a:pt x="1470820" y="0"/>
                    <a:pt x="1503753" y="13641"/>
                    <a:pt x="1528035" y="37923"/>
                  </a:cubicBezTo>
                  <a:cubicBezTo>
                    <a:pt x="1552317" y="62205"/>
                    <a:pt x="1565958" y="95139"/>
                    <a:pt x="1565958" y="129478"/>
                  </a:cubicBezTo>
                  <a:lnTo>
                    <a:pt x="1565958" y="129478"/>
                  </a:lnTo>
                  <a:cubicBezTo>
                    <a:pt x="1565958" y="163818"/>
                    <a:pt x="1552317" y="196752"/>
                    <a:pt x="1528035" y="221034"/>
                  </a:cubicBezTo>
                  <a:cubicBezTo>
                    <a:pt x="1503753" y="245316"/>
                    <a:pt x="1470820" y="258957"/>
                    <a:pt x="1436480" y="258957"/>
                  </a:cubicBezTo>
                  <a:lnTo>
                    <a:pt x="129478" y="258957"/>
                  </a:lnTo>
                  <a:cubicBezTo>
                    <a:pt x="95139" y="258957"/>
                    <a:pt x="62205" y="245316"/>
                    <a:pt x="37923" y="221034"/>
                  </a:cubicBezTo>
                  <a:cubicBezTo>
                    <a:pt x="13641" y="196752"/>
                    <a:pt x="0" y="163818"/>
                    <a:pt x="0" y="129478"/>
                  </a:cubicBezTo>
                  <a:lnTo>
                    <a:pt x="0" y="129478"/>
                  </a:lnTo>
                  <a:cubicBezTo>
                    <a:pt x="0" y="95139"/>
                    <a:pt x="13641" y="62205"/>
                    <a:pt x="37923" y="37923"/>
                  </a:cubicBezTo>
                  <a:cubicBezTo>
                    <a:pt x="62205" y="13641"/>
                    <a:pt x="95139" y="0"/>
                    <a:pt x="129478" y="0"/>
                  </a:cubicBezTo>
                  <a:close/>
                </a:path>
              </a:pathLst>
            </a:custGeom>
            <a:ln w="38100" cap="rnd">
              <a:solidFill>
                <a:srgbClr val="303870"/>
              </a:solidFill>
              <a:prstDash val="solid"/>
              <a:round/>
            </a:ln>
          </p:spPr>
        </p:sp>
        <p:sp>
          <p:nvSpPr>
            <p:cNvPr id="48" name="TextBox 48"/>
            <p:cNvSpPr txBox="1"/>
            <p:nvPr/>
          </p:nvSpPr>
          <p:spPr>
            <a:xfrm>
              <a:off x="0" y="-95250"/>
              <a:ext cx="1565958" cy="354207"/>
            </a:xfrm>
            <a:prstGeom prst="rect">
              <a:avLst/>
            </a:prstGeom>
          </p:spPr>
          <p:txBody>
            <a:bodyPr lIns="50800" tIns="50800" rIns="50800" bIns="50800" rtlCol="0" anchor="ctr"/>
            <a:lstStyle/>
            <a:p>
              <a:pPr algn="ctr">
                <a:lnSpc>
                  <a:spcPts val="3287"/>
                </a:lnSpc>
              </a:pPr>
              <a:endParaRPr/>
            </a:p>
          </p:txBody>
        </p:sp>
      </p:grpSp>
      <p:sp>
        <p:nvSpPr>
          <p:cNvPr id="49" name="TextBox 49"/>
          <p:cNvSpPr txBox="1"/>
          <p:nvPr/>
        </p:nvSpPr>
        <p:spPr>
          <a:xfrm>
            <a:off x="8262766" y="3158327"/>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07. IOC Table</a:t>
            </a:r>
          </a:p>
        </p:txBody>
      </p:sp>
      <p:grpSp>
        <p:nvGrpSpPr>
          <p:cNvPr id="50" name="Group 50"/>
          <p:cNvGrpSpPr/>
          <p:nvPr/>
        </p:nvGrpSpPr>
        <p:grpSpPr>
          <a:xfrm>
            <a:off x="7948765" y="9037672"/>
            <a:ext cx="6092292" cy="844230"/>
            <a:chOff x="0" y="0"/>
            <a:chExt cx="1604554" cy="222349"/>
          </a:xfrm>
        </p:grpSpPr>
        <p:sp>
          <p:nvSpPr>
            <p:cNvPr id="51" name="Freeform 51"/>
            <p:cNvSpPr/>
            <p:nvPr/>
          </p:nvSpPr>
          <p:spPr>
            <a:xfrm>
              <a:off x="0" y="0"/>
              <a:ext cx="1604554" cy="222349"/>
            </a:xfrm>
            <a:custGeom>
              <a:avLst/>
              <a:gdLst/>
              <a:ahLst/>
              <a:cxnLst/>
              <a:rect l="l" t="t" r="r" b="b"/>
              <a:pathLst>
                <a:path w="1604554" h="222349">
                  <a:moveTo>
                    <a:pt x="111174" y="0"/>
                  </a:moveTo>
                  <a:lnTo>
                    <a:pt x="1493380" y="0"/>
                  </a:lnTo>
                  <a:cubicBezTo>
                    <a:pt x="1522865" y="0"/>
                    <a:pt x="1551143" y="11713"/>
                    <a:pt x="1571992" y="32562"/>
                  </a:cubicBezTo>
                  <a:cubicBezTo>
                    <a:pt x="1592841" y="53411"/>
                    <a:pt x="1604554" y="81689"/>
                    <a:pt x="1604554" y="111174"/>
                  </a:cubicBezTo>
                  <a:lnTo>
                    <a:pt x="1604554" y="111174"/>
                  </a:lnTo>
                  <a:cubicBezTo>
                    <a:pt x="1604554" y="140660"/>
                    <a:pt x="1592841" y="168937"/>
                    <a:pt x="1571992" y="189786"/>
                  </a:cubicBezTo>
                  <a:cubicBezTo>
                    <a:pt x="1551143" y="210636"/>
                    <a:pt x="1522865" y="222349"/>
                    <a:pt x="1493380" y="222349"/>
                  </a:cubicBezTo>
                  <a:lnTo>
                    <a:pt x="111174" y="222349"/>
                  </a:lnTo>
                  <a:cubicBezTo>
                    <a:pt x="81689" y="222349"/>
                    <a:pt x="53411" y="210636"/>
                    <a:pt x="32562" y="189786"/>
                  </a:cubicBezTo>
                  <a:cubicBezTo>
                    <a:pt x="11713" y="168937"/>
                    <a:pt x="0" y="140660"/>
                    <a:pt x="0" y="111174"/>
                  </a:cubicBezTo>
                  <a:lnTo>
                    <a:pt x="0" y="111174"/>
                  </a:lnTo>
                  <a:cubicBezTo>
                    <a:pt x="0" y="81689"/>
                    <a:pt x="11713" y="53411"/>
                    <a:pt x="32562" y="32562"/>
                  </a:cubicBezTo>
                  <a:cubicBezTo>
                    <a:pt x="53411" y="11713"/>
                    <a:pt x="81689" y="0"/>
                    <a:pt x="111174" y="0"/>
                  </a:cubicBezTo>
                  <a:close/>
                </a:path>
              </a:pathLst>
            </a:custGeom>
            <a:ln w="38100" cap="rnd">
              <a:solidFill>
                <a:srgbClr val="303870"/>
              </a:solidFill>
              <a:prstDash val="solid"/>
              <a:round/>
            </a:ln>
          </p:spPr>
        </p:sp>
        <p:sp>
          <p:nvSpPr>
            <p:cNvPr id="52" name="TextBox 52"/>
            <p:cNvSpPr txBox="1"/>
            <p:nvPr/>
          </p:nvSpPr>
          <p:spPr>
            <a:xfrm>
              <a:off x="0" y="-95250"/>
              <a:ext cx="1604554" cy="317599"/>
            </a:xfrm>
            <a:prstGeom prst="rect">
              <a:avLst/>
            </a:prstGeom>
          </p:spPr>
          <p:txBody>
            <a:bodyPr lIns="50800" tIns="50800" rIns="50800" bIns="50800" rtlCol="0" anchor="ctr"/>
            <a:lstStyle/>
            <a:p>
              <a:pPr algn="ctr">
                <a:lnSpc>
                  <a:spcPts val="3287"/>
                </a:lnSpc>
              </a:pPr>
              <a:endParaRPr/>
            </a:p>
          </p:txBody>
        </p:sp>
      </p:grpSp>
      <p:sp>
        <p:nvSpPr>
          <p:cNvPr id="53" name="TextBox 53"/>
          <p:cNvSpPr txBox="1"/>
          <p:nvPr/>
        </p:nvSpPr>
        <p:spPr>
          <a:xfrm>
            <a:off x="1285620" y="5542333"/>
            <a:ext cx="5053319" cy="556115"/>
          </a:xfrm>
          <a:prstGeom prst="rect">
            <a:avLst/>
          </a:prstGeom>
        </p:spPr>
        <p:txBody>
          <a:bodyPr lIns="0" tIns="0" rIns="0" bIns="0" rtlCol="0" anchor="t">
            <a:spAutoFit/>
          </a:bodyPr>
          <a:lstStyle/>
          <a:p>
            <a:pPr algn="l">
              <a:lnSpc>
                <a:spcPts val="4522"/>
              </a:lnSpc>
            </a:pPr>
            <a:r>
              <a:rPr lang="en-US" sz="3230">
                <a:solidFill>
                  <a:srgbClr val="F0F0F0"/>
                </a:solidFill>
                <a:latin typeface="Calibri"/>
                <a:ea typeface="Nunito"/>
                <a:cs typeface="Nunito"/>
                <a:sym typeface="Nunito"/>
              </a:rPr>
              <a:t>03. Network Diagram</a:t>
            </a:r>
          </a:p>
        </p:txBody>
      </p:sp>
      <p:grpSp>
        <p:nvGrpSpPr>
          <p:cNvPr id="54" name="Group 54"/>
          <p:cNvGrpSpPr/>
          <p:nvPr/>
        </p:nvGrpSpPr>
        <p:grpSpPr>
          <a:xfrm>
            <a:off x="7948765" y="3050647"/>
            <a:ext cx="6092292" cy="838151"/>
            <a:chOff x="0" y="0"/>
            <a:chExt cx="1604554" cy="220747"/>
          </a:xfrm>
        </p:grpSpPr>
        <p:sp>
          <p:nvSpPr>
            <p:cNvPr id="55" name="Freeform 55"/>
            <p:cNvSpPr/>
            <p:nvPr/>
          </p:nvSpPr>
          <p:spPr>
            <a:xfrm>
              <a:off x="0" y="0"/>
              <a:ext cx="1604554" cy="220747"/>
            </a:xfrm>
            <a:custGeom>
              <a:avLst/>
              <a:gdLst/>
              <a:ahLst/>
              <a:cxnLst/>
              <a:rect l="l" t="t" r="r" b="b"/>
              <a:pathLst>
                <a:path w="1604554" h="220747">
                  <a:moveTo>
                    <a:pt x="110374" y="0"/>
                  </a:moveTo>
                  <a:lnTo>
                    <a:pt x="1494181" y="0"/>
                  </a:lnTo>
                  <a:cubicBezTo>
                    <a:pt x="1523454" y="0"/>
                    <a:pt x="1551527" y="11629"/>
                    <a:pt x="1572227" y="32328"/>
                  </a:cubicBezTo>
                  <a:cubicBezTo>
                    <a:pt x="1592926" y="53027"/>
                    <a:pt x="1604554" y="81101"/>
                    <a:pt x="1604554" y="110374"/>
                  </a:cubicBezTo>
                  <a:lnTo>
                    <a:pt x="1604554" y="110374"/>
                  </a:lnTo>
                  <a:cubicBezTo>
                    <a:pt x="1604554" y="139647"/>
                    <a:pt x="1592926" y="167721"/>
                    <a:pt x="1572227" y="188420"/>
                  </a:cubicBezTo>
                  <a:cubicBezTo>
                    <a:pt x="1551527" y="209119"/>
                    <a:pt x="1523454" y="220747"/>
                    <a:pt x="1494181" y="220747"/>
                  </a:cubicBezTo>
                  <a:lnTo>
                    <a:pt x="110374" y="220747"/>
                  </a:lnTo>
                  <a:cubicBezTo>
                    <a:pt x="81101" y="220747"/>
                    <a:pt x="53027" y="209119"/>
                    <a:pt x="32328" y="188420"/>
                  </a:cubicBezTo>
                  <a:cubicBezTo>
                    <a:pt x="11629" y="167721"/>
                    <a:pt x="0" y="139647"/>
                    <a:pt x="0" y="110374"/>
                  </a:cubicBezTo>
                  <a:lnTo>
                    <a:pt x="0" y="110374"/>
                  </a:lnTo>
                  <a:cubicBezTo>
                    <a:pt x="0" y="81101"/>
                    <a:pt x="11629" y="53027"/>
                    <a:pt x="32328" y="32328"/>
                  </a:cubicBezTo>
                  <a:cubicBezTo>
                    <a:pt x="53027" y="11629"/>
                    <a:pt x="81101" y="0"/>
                    <a:pt x="110374" y="0"/>
                  </a:cubicBezTo>
                  <a:close/>
                </a:path>
              </a:pathLst>
            </a:custGeom>
            <a:ln w="38100" cap="rnd">
              <a:solidFill>
                <a:srgbClr val="303870"/>
              </a:solidFill>
              <a:prstDash val="solid"/>
              <a:round/>
            </a:ln>
          </p:spPr>
        </p:sp>
        <p:sp>
          <p:nvSpPr>
            <p:cNvPr id="56" name="TextBox 56"/>
            <p:cNvSpPr txBox="1"/>
            <p:nvPr/>
          </p:nvSpPr>
          <p:spPr>
            <a:xfrm>
              <a:off x="0" y="-95250"/>
              <a:ext cx="1604554" cy="315997"/>
            </a:xfrm>
            <a:prstGeom prst="rect">
              <a:avLst/>
            </a:prstGeom>
          </p:spPr>
          <p:txBody>
            <a:bodyPr lIns="50800" tIns="50800" rIns="50800" bIns="50800" rtlCol="0" anchor="ctr"/>
            <a:lstStyle/>
            <a:p>
              <a:pPr algn="ctr">
                <a:lnSpc>
                  <a:spcPts val="3287"/>
                </a:lnSpc>
              </a:pPr>
              <a:endParaRPr/>
            </a:p>
          </p:txBody>
        </p:sp>
      </p:grpSp>
      <p:sp>
        <p:nvSpPr>
          <p:cNvPr id="57" name="TextBox 57"/>
          <p:cNvSpPr txBox="1"/>
          <p:nvPr/>
        </p:nvSpPr>
        <p:spPr>
          <a:xfrm>
            <a:off x="8205685" y="7110979"/>
            <a:ext cx="5835372" cy="556115"/>
          </a:xfrm>
          <a:prstGeom prst="rect">
            <a:avLst/>
          </a:prstGeom>
        </p:spPr>
        <p:txBody>
          <a:bodyPr lIns="0" tIns="0" rIns="0" bIns="0" rtlCol="0" anchor="t">
            <a:spAutoFit/>
          </a:bodyPr>
          <a:lstStyle/>
          <a:p>
            <a:pPr marL="697507" lvl="1" indent="-348753" algn="l">
              <a:lnSpc>
                <a:spcPts val="4522"/>
              </a:lnSpc>
              <a:buAutoNum type="arabicPeriod"/>
            </a:pPr>
            <a:r>
              <a:rPr lang="en-US" sz="3230">
                <a:solidFill>
                  <a:srgbClr val="F0F0F0"/>
                </a:solidFill>
                <a:latin typeface="Calibri"/>
                <a:ea typeface="Nunito"/>
                <a:cs typeface="Nunito"/>
                <a:sym typeface="Nunito"/>
              </a:rPr>
              <a:t>Final Security Test Results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TextBox 2"/>
          <p:cNvSpPr txBox="1"/>
          <p:nvPr/>
        </p:nvSpPr>
        <p:spPr>
          <a:xfrm>
            <a:off x="1976533" y="2542540"/>
            <a:ext cx="12169942" cy="6715760"/>
          </a:xfrm>
          <a:prstGeom prst="rect">
            <a:avLst/>
          </a:prstGeom>
        </p:spPr>
        <p:txBody>
          <a:bodyPr lIns="0" tIns="0" rIns="0" bIns="0" rtlCol="0" anchor="t">
            <a:spAutoFit/>
          </a:bodyPr>
          <a:lstStyle/>
          <a:p>
            <a:pPr algn="l">
              <a:lnSpc>
                <a:spcPts val="4479"/>
              </a:lnSpc>
            </a:pPr>
            <a:r>
              <a:rPr lang="en-US" sz="2799" b="1">
                <a:solidFill>
                  <a:srgbClr val="F0F0F0"/>
                </a:solidFill>
                <a:latin typeface="Calibri"/>
                <a:ea typeface="Open Sauce Bold"/>
                <a:cs typeface="Open Sauce Bold"/>
                <a:sym typeface="Open Sauce Bold"/>
              </a:rPr>
              <a:t>SITUATION</a:t>
            </a:r>
            <a:r>
              <a:rPr lang="en-US" sz="2799">
                <a:solidFill>
                  <a:srgbClr val="F0F0F0"/>
                </a:solidFill>
                <a:latin typeface="Calibri"/>
                <a:ea typeface="Open Sauce"/>
                <a:cs typeface="Open Sauce"/>
                <a:sym typeface="Open Sauce"/>
              </a:rPr>
              <a:t>: A homeowner's smart devices started acting strange. Lights turned on/off by themselves. Internet was slow.</a:t>
            </a:r>
          </a:p>
          <a:p>
            <a:pPr algn="l">
              <a:lnSpc>
                <a:spcPts val="4479"/>
              </a:lnSpc>
            </a:pPr>
            <a:endParaRPr lang="en-US" sz="2799">
              <a:solidFill>
                <a:srgbClr val="F0F0F0"/>
              </a:solidFill>
              <a:latin typeface="Calibri"/>
              <a:ea typeface="Open Sauce"/>
              <a:cs typeface="Open Sauce"/>
              <a:sym typeface="Open Sauce"/>
            </a:endParaRPr>
          </a:p>
          <a:p>
            <a:pPr algn="l">
              <a:lnSpc>
                <a:spcPts val="4479"/>
              </a:lnSpc>
            </a:pPr>
            <a:r>
              <a:rPr lang="en-US" sz="2799" b="1">
                <a:solidFill>
                  <a:srgbClr val="F0F0F0"/>
                </a:solidFill>
                <a:latin typeface="Calibri"/>
                <a:ea typeface="Open Sauce Bold"/>
                <a:cs typeface="Open Sauce Bold"/>
                <a:sym typeface="Open Sauce Bold"/>
              </a:rPr>
              <a:t>OUR TASK</a:t>
            </a:r>
            <a:r>
              <a:rPr lang="en-US" sz="2799">
                <a:solidFill>
                  <a:srgbClr val="F0F0F0"/>
                </a:solidFill>
                <a:latin typeface="Calibri"/>
                <a:ea typeface="Open Sauce"/>
                <a:cs typeface="Open Sauce"/>
                <a:sym typeface="Open Sauce"/>
              </a:rPr>
              <a:t>: Analyze the PCAP file to find the truth.</a:t>
            </a:r>
          </a:p>
          <a:p>
            <a:pPr algn="l">
              <a:lnSpc>
                <a:spcPts val="4479"/>
              </a:lnSpc>
            </a:pPr>
            <a:endParaRPr lang="en-US" sz="2799">
              <a:solidFill>
                <a:srgbClr val="F0F0F0"/>
              </a:solidFill>
              <a:latin typeface="Calibri"/>
              <a:ea typeface="Open Sauce"/>
              <a:cs typeface="Open Sauce"/>
              <a:sym typeface="Open Sauce"/>
            </a:endParaRPr>
          </a:p>
          <a:p>
            <a:pPr algn="l">
              <a:lnSpc>
                <a:spcPts val="4479"/>
              </a:lnSpc>
            </a:pPr>
            <a:r>
              <a:rPr lang="en-US" sz="2799" b="1">
                <a:solidFill>
                  <a:srgbClr val="F0F0F0"/>
                </a:solidFill>
                <a:latin typeface="Calibri"/>
                <a:ea typeface="Open Sauce Bold"/>
                <a:cs typeface="Open Sauce Bold"/>
                <a:sym typeface="Open Sauce Bold"/>
              </a:rPr>
              <a:t>THE QUESTIONS:</a:t>
            </a:r>
          </a:p>
          <a:p>
            <a:pPr algn="l">
              <a:lnSpc>
                <a:spcPts val="4479"/>
              </a:lnSpc>
            </a:pPr>
            <a:r>
              <a:rPr lang="en-US" sz="2799">
                <a:solidFill>
                  <a:srgbClr val="F0F0F0"/>
                </a:solidFill>
                <a:latin typeface="Calibri"/>
                <a:ea typeface="Open Sauce"/>
                <a:cs typeface="Open Sauce"/>
                <a:sym typeface="Open Sauce"/>
              </a:rPr>
              <a:t>• Which device was hacked?</a:t>
            </a:r>
          </a:p>
          <a:p>
            <a:pPr algn="l">
              <a:lnSpc>
                <a:spcPts val="4479"/>
              </a:lnSpc>
            </a:pPr>
            <a:r>
              <a:rPr lang="en-US" sz="2799">
                <a:solidFill>
                  <a:srgbClr val="F0F0F0"/>
                </a:solidFill>
                <a:latin typeface="Calibri"/>
                <a:ea typeface="Open Sauce"/>
                <a:cs typeface="Open Sauce"/>
                <a:sym typeface="Open Sauce"/>
              </a:rPr>
              <a:t>• Who is the attacker?</a:t>
            </a:r>
          </a:p>
          <a:p>
            <a:pPr algn="l">
              <a:lnSpc>
                <a:spcPts val="4479"/>
              </a:lnSpc>
            </a:pPr>
            <a:r>
              <a:rPr lang="en-US" sz="2799">
                <a:solidFill>
                  <a:srgbClr val="F0F0F0"/>
                </a:solidFill>
                <a:latin typeface="Calibri"/>
                <a:ea typeface="Open Sauce"/>
                <a:cs typeface="Open Sauce"/>
                <a:sym typeface="Open Sauce"/>
              </a:rPr>
              <a:t>• How did they break in?</a:t>
            </a:r>
          </a:p>
          <a:p>
            <a:pPr algn="l">
              <a:lnSpc>
                <a:spcPts val="4479"/>
              </a:lnSpc>
            </a:pPr>
            <a:r>
              <a:rPr lang="en-US" sz="2799">
                <a:solidFill>
                  <a:srgbClr val="F0F0F0"/>
                </a:solidFill>
                <a:latin typeface="Calibri"/>
                <a:ea typeface="Open Sauce"/>
                <a:cs typeface="Open Sauce"/>
                <a:sym typeface="Open Sauce"/>
              </a:rPr>
              <a:t>• How do we stop it?</a:t>
            </a:r>
          </a:p>
          <a:p>
            <a:pPr algn="l">
              <a:lnSpc>
                <a:spcPts val="4479"/>
              </a:lnSpc>
            </a:pPr>
            <a:endParaRPr lang="en-US" sz="2799">
              <a:solidFill>
                <a:srgbClr val="F0F0F0"/>
              </a:solidFill>
              <a:latin typeface="Calibri"/>
              <a:ea typeface="Open Sauce"/>
              <a:cs typeface="Open Sauce"/>
              <a:sym typeface="Open Sauce"/>
            </a:endParaRPr>
          </a:p>
          <a:p>
            <a:pPr marL="0" lvl="0" indent="0" algn="l">
              <a:lnSpc>
                <a:spcPts val="4479"/>
              </a:lnSpc>
            </a:pPr>
            <a:endParaRPr lang="en-US" sz="2799">
              <a:solidFill>
                <a:srgbClr val="F0F0F0"/>
              </a:solidFill>
              <a:latin typeface="Calibri"/>
              <a:ea typeface="Open Sauce"/>
              <a:cs typeface="Open Sauce"/>
              <a:sym typeface="Open Sauce"/>
            </a:endParaRPr>
          </a:p>
        </p:txBody>
      </p:sp>
      <p:sp>
        <p:nvSpPr>
          <p:cNvPr id="3" name="TextBox 3"/>
          <p:cNvSpPr txBox="1"/>
          <p:nvPr/>
        </p:nvSpPr>
        <p:spPr>
          <a:xfrm>
            <a:off x="1976533" y="914400"/>
            <a:ext cx="7604305" cy="1085215"/>
          </a:xfrm>
          <a:prstGeom prst="rect">
            <a:avLst/>
          </a:prstGeom>
        </p:spPr>
        <p:txBody>
          <a:bodyPr lIns="0" tIns="0" rIns="0" bIns="0" rtlCol="0" anchor="t">
            <a:spAutoFit/>
          </a:bodyPr>
          <a:lstStyle/>
          <a:p>
            <a:r>
              <a:t>INCIDENT OVERVIEW</a:t>
            </a:r>
          </a:p>
        </p:txBody>
      </p:sp>
      <p:grpSp>
        <p:nvGrpSpPr>
          <p:cNvPr id="4" name="Group 4"/>
          <p:cNvGrpSpPr/>
          <p:nvPr/>
        </p:nvGrpSpPr>
        <p:grpSpPr>
          <a:xfrm>
            <a:off x="17259300" y="0"/>
            <a:ext cx="3086100" cy="10287000"/>
            <a:chOff x="0" y="0"/>
            <a:chExt cx="812800" cy="2709333"/>
          </a:xfrm>
        </p:grpSpPr>
        <p:sp>
          <p:nvSpPr>
            <p:cNvPr id="5" name="Freeform 5"/>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6" name="TextBox 6"/>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TextBox 2"/>
          <p:cNvSpPr txBox="1"/>
          <p:nvPr/>
        </p:nvSpPr>
        <p:spPr>
          <a:xfrm>
            <a:off x="8174577" y="2408865"/>
            <a:ext cx="8307875" cy="534035"/>
          </a:xfrm>
          <a:prstGeom prst="rect">
            <a:avLst/>
          </a:prstGeom>
        </p:spPr>
        <p:txBody>
          <a:bodyPr lIns="0" tIns="0" rIns="0" bIns="0" rtlCol="0" anchor="t">
            <a:spAutoFit/>
          </a:bodyPr>
          <a:lstStyle/>
          <a:p>
            <a:pPr marL="0" lvl="0" indent="0" algn="l">
              <a:lnSpc>
                <a:spcPts val="4479"/>
              </a:lnSpc>
            </a:pPr>
            <a:r>
              <a:rPr lang="en-US" sz="2799">
                <a:solidFill>
                  <a:srgbClr val="F0F0F0"/>
                </a:solidFill>
                <a:latin typeface="Calibri"/>
                <a:ea typeface="Open Sauce"/>
                <a:cs typeface="Open Sauce"/>
                <a:sym typeface="Open Sauce"/>
              </a:rPr>
              <a:t> PCAP file loaded in Wireshark</a:t>
            </a:r>
          </a:p>
        </p:txBody>
      </p:sp>
      <p:grpSp>
        <p:nvGrpSpPr>
          <p:cNvPr id="3" name="Group 3"/>
          <p:cNvGrpSpPr/>
          <p:nvPr/>
        </p:nvGrpSpPr>
        <p:grpSpPr>
          <a:xfrm>
            <a:off x="6783262" y="2347899"/>
            <a:ext cx="909958" cy="835671"/>
            <a:chOff x="0" y="0"/>
            <a:chExt cx="812800" cy="746445"/>
          </a:xfrm>
        </p:grpSpPr>
        <p:sp>
          <p:nvSpPr>
            <p:cNvPr id="4" name="Freeform 4"/>
            <p:cNvSpPr/>
            <p:nvPr/>
          </p:nvSpPr>
          <p:spPr>
            <a:xfrm>
              <a:off x="0" y="0"/>
              <a:ext cx="812800" cy="746445"/>
            </a:xfrm>
            <a:custGeom>
              <a:avLst/>
              <a:gdLst/>
              <a:ahLst/>
              <a:cxnLst/>
              <a:rect l="l" t="t" r="r" b="b"/>
              <a:pathLst>
                <a:path w="812800" h="746445">
                  <a:moveTo>
                    <a:pt x="406400" y="0"/>
                  </a:moveTo>
                  <a:cubicBezTo>
                    <a:pt x="181951" y="0"/>
                    <a:pt x="0" y="167097"/>
                    <a:pt x="0" y="373222"/>
                  </a:cubicBezTo>
                  <a:cubicBezTo>
                    <a:pt x="0" y="579347"/>
                    <a:pt x="181951" y="746445"/>
                    <a:pt x="406400" y="746445"/>
                  </a:cubicBezTo>
                  <a:cubicBezTo>
                    <a:pt x="630849" y="746445"/>
                    <a:pt x="812800" y="579347"/>
                    <a:pt x="812800" y="373222"/>
                  </a:cubicBezTo>
                  <a:cubicBezTo>
                    <a:pt x="812800" y="167097"/>
                    <a:pt x="630849" y="0"/>
                    <a:pt x="406400" y="0"/>
                  </a:cubicBezTo>
                  <a:close/>
                </a:path>
              </a:pathLst>
            </a:custGeom>
            <a:ln w="28575" cap="sq">
              <a:solidFill>
                <a:srgbClr val="303870"/>
              </a:solidFill>
              <a:prstDash val="solid"/>
              <a:miter/>
            </a:ln>
          </p:spPr>
        </p:sp>
        <p:sp>
          <p:nvSpPr>
            <p:cNvPr id="5" name="TextBox 5"/>
            <p:cNvSpPr txBox="1"/>
            <p:nvPr/>
          </p:nvSpPr>
          <p:spPr>
            <a:xfrm>
              <a:off x="76200" y="22354"/>
              <a:ext cx="660400" cy="654111"/>
            </a:xfrm>
            <a:prstGeom prst="rect">
              <a:avLst/>
            </a:prstGeom>
          </p:spPr>
          <p:txBody>
            <a:bodyPr lIns="50800" tIns="50800" rIns="50800" bIns="50800" rtlCol="0" anchor="ctr"/>
            <a:lstStyle/>
            <a:p>
              <a:pPr algn="ctr">
                <a:lnSpc>
                  <a:spcPts val="3359"/>
                </a:lnSpc>
              </a:pPr>
              <a:endParaRPr/>
            </a:p>
          </p:txBody>
        </p:sp>
      </p:grpSp>
      <p:sp>
        <p:nvSpPr>
          <p:cNvPr id="6" name="TextBox 6"/>
          <p:cNvSpPr txBox="1"/>
          <p:nvPr/>
        </p:nvSpPr>
        <p:spPr>
          <a:xfrm>
            <a:off x="6810680" y="2399340"/>
            <a:ext cx="817023" cy="608965"/>
          </a:xfrm>
          <a:prstGeom prst="rect">
            <a:avLst/>
          </a:prstGeom>
        </p:spPr>
        <p:txBody>
          <a:bodyPr lIns="0" tIns="0" rIns="0" bIns="0" rtlCol="0" anchor="t">
            <a:spAutoFit/>
          </a:bodyPr>
          <a:lstStyle/>
          <a:p>
            <a:pPr marL="0" lvl="0" indent="0" algn="ctr">
              <a:lnSpc>
                <a:spcPts val="5120"/>
              </a:lnSpc>
            </a:pPr>
            <a:r>
              <a:rPr lang="en-US" sz="3200" b="1">
                <a:solidFill>
                  <a:srgbClr val="F0F0F0"/>
                </a:solidFill>
                <a:latin typeface="Calibri"/>
                <a:ea typeface="Open Sauce Bold"/>
                <a:cs typeface="Open Sauce Bold"/>
                <a:sym typeface="Open Sauce Bold"/>
              </a:rPr>
              <a:t>1</a:t>
            </a:r>
          </a:p>
        </p:txBody>
      </p:sp>
      <p:sp>
        <p:nvSpPr>
          <p:cNvPr id="7" name="TextBox 7"/>
          <p:cNvSpPr txBox="1"/>
          <p:nvPr/>
        </p:nvSpPr>
        <p:spPr>
          <a:xfrm>
            <a:off x="8174577" y="3685380"/>
            <a:ext cx="8307875" cy="1096010"/>
          </a:xfrm>
          <a:prstGeom prst="rect">
            <a:avLst/>
          </a:prstGeom>
        </p:spPr>
        <p:txBody>
          <a:bodyPr lIns="0" tIns="0" rIns="0" bIns="0" rtlCol="0" anchor="t">
            <a:spAutoFit/>
          </a:bodyPr>
          <a:lstStyle/>
          <a:p>
            <a:pPr marL="0" lvl="0" indent="0" algn="l">
              <a:lnSpc>
                <a:spcPts val="4479"/>
              </a:lnSpc>
            </a:pPr>
            <a:r>
              <a:rPr lang="en-US" sz="2799">
                <a:solidFill>
                  <a:srgbClr val="F0F0F0"/>
                </a:solidFill>
                <a:latin typeface="Calibri"/>
                <a:ea typeface="Open Sauce"/>
                <a:cs typeface="Open Sauce"/>
                <a:sym typeface="Open Sauce"/>
              </a:rPr>
              <a:t>MAC address filtering to identify compromised device</a:t>
            </a:r>
          </a:p>
        </p:txBody>
      </p:sp>
      <p:grpSp>
        <p:nvGrpSpPr>
          <p:cNvPr id="8" name="Group 8"/>
          <p:cNvGrpSpPr/>
          <p:nvPr/>
        </p:nvGrpSpPr>
        <p:grpSpPr>
          <a:xfrm>
            <a:off x="6764212" y="3799680"/>
            <a:ext cx="909958" cy="90995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303870"/>
              </a:solidFill>
              <a:prstDash val="solid"/>
              <a:miter/>
            </a:ln>
          </p:spPr>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1" name="TextBox 11"/>
          <p:cNvSpPr txBox="1"/>
          <p:nvPr/>
        </p:nvSpPr>
        <p:spPr>
          <a:xfrm>
            <a:off x="6829730" y="3888265"/>
            <a:ext cx="817023" cy="608965"/>
          </a:xfrm>
          <a:prstGeom prst="rect">
            <a:avLst/>
          </a:prstGeom>
        </p:spPr>
        <p:txBody>
          <a:bodyPr lIns="0" tIns="0" rIns="0" bIns="0" rtlCol="0" anchor="t">
            <a:spAutoFit/>
          </a:bodyPr>
          <a:lstStyle/>
          <a:p>
            <a:pPr marL="0" lvl="0" indent="0" algn="ctr">
              <a:lnSpc>
                <a:spcPts val="5120"/>
              </a:lnSpc>
            </a:pPr>
            <a:r>
              <a:rPr lang="en-US" sz="3200" b="1">
                <a:solidFill>
                  <a:srgbClr val="F0F0F0"/>
                </a:solidFill>
                <a:latin typeface="Calibri"/>
                <a:ea typeface="Open Sauce Bold"/>
                <a:cs typeface="Open Sauce Bold"/>
                <a:sym typeface="Open Sauce Bold"/>
              </a:rPr>
              <a:t>2</a:t>
            </a:r>
          </a:p>
        </p:txBody>
      </p:sp>
      <p:sp>
        <p:nvSpPr>
          <p:cNvPr id="12" name="TextBox 12"/>
          <p:cNvSpPr txBox="1"/>
          <p:nvPr/>
        </p:nvSpPr>
        <p:spPr>
          <a:xfrm>
            <a:off x="8174577" y="5519976"/>
            <a:ext cx="8307875" cy="534035"/>
          </a:xfrm>
          <a:prstGeom prst="rect">
            <a:avLst/>
          </a:prstGeom>
        </p:spPr>
        <p:txBody>
          <a:bodyPr lIns="0" tIns="0" rIns="0" bIns="0" rtlCol="0" anchor="t">
            <a:spAutoFit/>
          </a:bodyPr>
          <a:lstStyle/>
          <a:p>
            <a:pPr marL="0" lvl="0" indent="0" algn="l">
              <a:lnSpc>
                <a:spcPts val="4479"/>
              </a:lnSpc>
            </a:pPr>
            <a:r>
              <a:rPr lang="en-US" sz="2799">
                <a:solidFill>
                  <a:srgbClr val="F0F0F0"/>
                </a:solidFill>
                <a:latin typeface="Calibri"/>
                <a:ea typeface="Open Sauce"/>
                <a:cs typeface="Open Sauce"/>
                <a:sym typeface="Open Sauce"/>
              </a:rPr>
              <a:t>IP conversation analysis to find C2 server</a:t>
            </a:r>
          </a:p>
        </p:txBody>
      </p:sp>
      <p:grpSp>
        <p:nvGrpSpPr>
          <p:cNvPr id="13" name="Group 13"/>
          <p:cNvGrpSpPr/>
          <p:nvPr/>
        </p:nvGrpSpPr>
        <p:grpSpPr>
          <a:xfrm>
            <a:off x="6764212" y="5353289"/>
            <a:ext cx="909958" cy="90995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303870"/>
              </a:solidFill>
              <a:prstDash val="solid"/>
              <a:miter/>
            </a:ln>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16" name="TextBox 16"/>
          <p:cNvSpPr txBox="1"/>
          <p:nvPr/>
        </p:nvSpPr>
        <p:spPr>
          <a:xfrm>
            <a:off x="6783262" y="5441873"/>
            <a:ext cx="817023" cy="608965"/>
          </a:xfrm>
          <a:prstGeom prst="rect">
            <a:avLst/>
          </a:prstGeom>
        </p:spPr>
        <p:txBody>
          <a:bodyPr lIns="0" tIns="0" rIns="0" bIns="0" rtlCol="0" anchor="t">
            <a:spAutoFit/>
          </a:bodyPr>
          <a:lstStyle/>
          <a:p>
            <a:pPr marL="0" lvl="0" indent="0" algn="ctr">
              <a:lnSpc>
                <a:spcPts val="5120"/>
              </a:lnSpc>
            </a:pPr>
            <a:r>
              <a:rPr lang="en-US" sz="3200" b="1">
                <a:solidFill>
                  <a:srgbClr val="F0F0F0"/>
                </a:solidFill>
                <a:latin typeface="Calibri"/>
                <a:ea typeface="Open Sauce Bold"/>
                <a:cs typeface="Open Sauce Bold"/>
                <a:sym typeface="Open Sauce Bold"/>
              </a:rPr>
              <a:t>3</a:t>
            </a:r>
          </a:p>
        </p:txBody>
      </p:sp>
      <p:sp>
        <p:nvSpPr>
          <p:cNvPr id="17" name="TextBox 17"/>
          <p:cNvSpPr txBox="1"/>
          <p:nvPr/>
        </p:nvSpPr>
        <p:spPr>
          <a:xfrm>
            <a:off x="711419" y="914400"/>
            <a:ext cx="6461305" cy="1085259"/>
          </a:xfrm>
          <a:prstGeom prst="rect">
            <a:avLst/>
          </a:prstGeom>
        </p:spPr>
        <p:txBody>
          <a:bodyPr lIns="0" tIns="0" rIns="0" bIns="0" rtlCol="0" anchor="t">
            <a:spAutoFit/>
          </a:bodyPr>
          <a:lstStyle/>
          <a:p>
            <a:r>
              <a:t>FORENSIC INVESTIGATION METHODOLOGY</a:t>
            </a:r>
          </a:p>
        </p:txBody>
      </p:sp>
      <p:grpSp>
        <p:nvGrpSpPr>
          <p:cNvPr id="18" name="Group 18"/>
          <p:cNvGrpSpPr/>
          <p:nvPr/>
        </p:nvGrpSpPr>
        <p:grpSpPr>
          <a:xfrm>
            <a:off x="6810680" y="7053822"/>
            <a:ext cx="909958" cy="909958"/>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303870"/>
              </a:solidFill>
              <a:prstDash val="solid"/>
              <a:miter/>
            </a:ln>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21" name="TextBox 21"/>
          <p:cNvSpPr txBox="1"/>
          <p:nvPr/>
        </p:nvSpPr>
        <p:spPr>
          <a:xfrm>
            <a:off x="6829730" y="7142417"/>
            <a:ext cx="817023" cy="608943"/>
          </a:xfrm>
          <a:prstGeom prst="rect">
            <a:avLst/>
          </a:prstGeom>
        </p:spPr>
        <p:txBody>
          <a:bodyPr lIns="0" tIns="0" rIns="0" bIns="0" rtlCol="0" anchor="t">
            <a:spAutoFit/>
          </a:bodyPr>
          <a:lstStyle/>
          <a:p>
            <a:pPr marL="0" lvl="0" indent="0" algn="ctr">
              <a:lnSpc>
                <a:spcPts val="5120"/>
              </a:lnSpc>
            </a:pPr>
            <a:r>
              <a:rPr lang="en-US" sz="3200" b="1">
                <a:solidFill>
                  <a:srgbClr val="F0F0F0"/>
                </a:solidFill>
                <a:latin typeface="Calibri"/>
                <a:ea typeface="Open Sauce Bold"/>
                <a:cs typeface="Open Sauce Bold"/>
                <a:sym typeface="Open Sauce Bold"/>
              </a:rPr>
              <a:t>4</a:t>
            </a:r>
          </a:p>
        </p:txBody>
      </p:sp>
      <p:sp>
        <p:nvSpPr>
          <p:cNvPr id="22" name="TextBox 22"/>
          <p:cNvSpPr txBox="1"/>
          <p:nvPr/>
        </p:nvSpPr>
        <p:spPr>
          <a:xfrm>
            <a:off x="8174577" y="7217325"/>
            <a:ext cx="8307875" cy="534035"/>
          </a:xfrm>
          <a:prstGeom prst="rect">
            <a:avLst/>
          </a:prstGeom>
        </p:spPr>
        <p:txBody>
          <a:bodyPr lIns="0" tIns="0" rIns="0" bIns="0" rtlCol="0" anchor="t">
            <a:spAutoFit/>
          </a:bodyPr>
          <a:lstStyle/>
          <a:p>
            <a:pPr marL="0" lvl="0" indent="0" algn="l">
              <a:lnSpc>
                <a:spcPts val="4479"/>
              </a:lnSpc>
            </a:pPr>
            <a:r>
              <a:rPr lang="en-US" sz="2799">
                <a:solidFill>
                  <a:srgbClr val="F0F0F0"/>
                </a:solidFill>
                <a:latin typeface="Calibri"/>
                <a:ea typeface="Open Sauce"/>
                <a:cs typeface="Open Sauce"/>
                <a:sym typeface="Open Sauce"/>
              </a:rPr>
              <a:t> Protocol filter for brute force detection</a:t>
            </a:r>
          </a:p>
        </p:txBody>
      </p:sp>
      <p:grpSp>
        <p:nvGrpSpPr>
          <p:cNvPr id="23" name="Group 23"/>
          <p:cNvGrpSpPr/>
          <p:nvPr/>
        </p:nvGrpSpPr>
        <p:grpSpPr>
          <a:xfrm>
            <a:off x="17259300" y="0"/>
            <a:ext cx="3086100" cy="10287000"/>
            <a:chOff x="0" y="0"/>
            <a:chExt cx="812800" cy="2709333"/>
          </a:xfrm>
        </p:grpSpPr>
        <p:sp>
          <p:nvSpPr>
            <p:cNvPr id="24" name="Freeform 24"/>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25" name="TextBox 25"/>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grpSp>
        <p:nvGrpSpPr>
          <p:cNvPr id="26" name="Group 26"/>
          <p:cNvGrpSpPr/>
          <p:nvPr/>
        </p:nvGrpSpPr>
        <p:grpSpPr>
          <a:xfrm>
            <a:off x="6764212" y="8725216"/>
            <a:ext cx="909958" cy="909958"/>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303870"/>
              </a:solidFill>
              <a:prstDash val="solid"/>
              <a:miter/>
            </a:ln>
          </p:spPr>
        </p:sp>
        <p:sp>
          <p:nvSpPr>
            <p:cNvPr id="28" name="TextBox 28"/>
            <p:cNvSpPr txBox="1"/>
            <p:nvPr/>
          </p:nvSpPr>
          <p:spPr>
            <a:xfrm>
              <a:off x="76200" y="28575"/>
              <a:ext cx="660400" cy="708025"/>
            </a:xfrm>
            <a:prstGeom prst="rect">
              <a:avLst/>
            </a:prstGeom>
          </p:spPr>
          <p:txBody>
            <a:bodyPr lIns="50800" tIns="50800" rIns="50800" bIns="50800" rtlCol="0" anchor="ctr"/>
            <a:lstStyle/>
            <a:p>
              <a:pPr algn="ctr">
                <a:lnSpc>
                  <a:spcPts val="3359"/>
                </a:lnSpc>
              </a:pPr>
              <a:endParaRPr/>
            </a:p>
          </p:txBody>
        </p:sp>
      </p:grpSp>
      <p:sp>
        <p:nvSpPr>
          <p:cNvPr id="29" name="TextBox 29"/>
          <p:cNvSpPr txBox="1"/>
          <p:nvPr/>
        </p:nvSpPr>
        <p:spPr>
          <a:xfrm>
            <a:off x="6764212" y="8806826"/>
            <a:ext cx="817023" cy="608965"/>
          </a:xfrm>
          <a:prstGeom prst="rect">
            <a:avLst/>
          </a:prstGeom>
        </p:spPr>
        <p:txBody>
          <a:bodyPr lIns="0" tIns="0" rIns="0" bIns="0" rtlCol="0" anchor="t">
            <a:spAutoFit/>
          </a:bodyPr>
          <a:lstStyle/>
          <a:p>
            <a:pPr marL="0" lvl="0" indent="0" algn="ctr">
              <a:lnSpc>
                <a:spcPts val="5120"/>
              </a:lnSpc>
            </a:pPr>
            <a:r>
              <a:rPr lang="en-US" sz="3200" b="1">
                <a:solidFill>
                  <a:srgbClr val="F0F0F0"/>
                </a:solidFill>
                <a:latin typeface="Calibri"/>
                <a:ea typeface="Open Sauce Bold"/>
                <a:cs typeface="Open Sauce Bold"/>
                <a:sym typeface="Open Sauce Bold"/>
              </a:rPr>
              <a:t>5</a:t>
            </a:r>
          </a:p>
        </p:txBody>
      </p:sp>
      <p:sp>
        <p:nvSpPr>
          <p:cNvPr id="30" name="TextBox 30"/>
          <p:cNvSpPr txBox="1"/>
          <p:nvPr/>
        </p:nvSpPr>
        <p:spPr>
          <a:xfrm>
            <a:off x="8174577" y="8610916"/>
            <a:ext cx="8307875" cy="1657985"/>
          </a:xfrm>
          <a:prstGeom prst="rect">
            <a:avLst/>
          </a:prstGeom>
        </p:spPr>
        <p:txBody>
          <a:bodyPr lIns="0" tIns="0" rIns="0" bIns="0" rtlCol="0" anchor="t">
            <a:spAutoFit/>
          </a:bodyPr>
          <a:lstStyle/>
          <a:p>
            <a:pPr algn="l">
              <a:lnSpc>
                <a:spcPts val="4479"/>
              </a:lnSpc>
            </a:pPr>
            <a:r>
              <a:rPr lang="en-US" sz="2799" spc="153">
                <a:solidFill>
                  <a:srgbClr val="F0F0F0"/>
                </a:solidFill>
                <a:latin typeface="Calibri"/>
                <a:ea typeface="Open Sauce"/>
                <a:cs typeface="Open Sauce"/>
                <a:sym typeface="Open Sauce"/>
              </a:rPr>
              <a:t>GNS3 topology built for isolation &amp; mitigation</a:t>
            </a:r>
          </a:p>
          <a:p>
            <a:pPr marL="0" lvl="0" indent="0" algn="l">
              <a:lnSpc>
                <a:spcPts val="4479"/>
              </a:lnSpc>
            </a:pPr>
            <a:endParaRPr lang="en-US" sz="2799" spc="153">
              <a:solidFill>
                <a:srgbClr val="F0F0F0"/>
              </a:solidFill>
              <a:latin typeface="Calibri"/>
              <a:ea typeface="Open Sauce"/>
              <a:cs typeface="Open Sauce"/>
              <a:sym typeface="Open Sauc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Freeform 2"/>
          <p:cNvSpPr/>
          <p:nvPr/>
        </p:nvSpPr>
        <p:spPr>
          <a:xfrm>
            <a:off x="6431821" y="2898684"/>
            <a:ext cx="11195276" cy="5542394"/>
          </a:xfrm>
          <a:custGeom>
            <a:avLst/>
            <a:gdLst/>
            <a:ahLst/>
            <a:cxnLst/>
            <a:rect l="l" t="t" r="r" b="b"/>
            <a:pathLst>
              <a:path w="11195276" h="5542394">
                <a:moveTo>
                  <a:pt x="0" y="0"/>
                </a:moveTo>
                <a:lnTo>
                  <a:pt x="11195276" y="0"/>
                </a:lnTo>
                <a:lnTo>
                  <a:pt x="11195276" y="5542395"/>
                </a:lnTo>
                <a:lnTo>
                  <a:pt x="0" y="5542395"/>
                </a:lnTo>
                <a:lnTo>
                  <a:pt x="0" y="0"/>
                </a:lnTo>
                <a:close/>
              </a:path>
            </a:pathLst>
          </a:custGeom>
          <a:blipFill>
            <a:blip r:embed="rId2"/>
            <a:stretch>
              <a:fillRect t="-2654" b="-1026"/>
            </a:stretch>
          </a:blipFill>
        </p:spPr>
        <p:txBody>
          <a:bodyPr/>
          <a:lstStyle/>
          <a:p>
            <a:endParaRPr/>
          </a:p>
        </p:txBody>
      </p:sp>
      <p:sp>
        <p:nvSpPr>
          <p:cNvPr id="3" name="TextBox 3"/>
          <p:cNvSpPr txBox="1"/>
          <p:nvPr/>
        </p:nvSpPr>
        <p:spPr>
          <a:xfrm>
            <a:off x="457200" y="3076222"/>
            <a:ext cx="5974621" cy="5101595"/>
          </a:xfrm>
          <a:prstGeom prst="rect">
            <a:avLst/>
          </a:prstGeom>
        </p:spPr>
        <p:txBody>
          <a:bodyPr lIns="0" tIns="0" rIns="0" bIns="0" rtlCol="0" anchor="t">
            <a:spAutoFit/>
          </a:bodyPr>
          <a:lstStyle/>
          <a:p>
            <a:pPr algn="l">
              <a:lnSpc>
                <a:spcPts val="3719"/>
              </a:lnSpc>
            </a:pPr>
            <a:r>
              <a:rPr lang="en-US" sz="2324" b="1">
                <a:solidFill>
                  <a:srgbClr val="F0F0F0"/>
                </a:solidFill>
                <a:latin typeface="Calibri"/>
                <a:ea typeface="Open Sauce Bold"/>
                <a:cs typeface="Open Sauce Bold"/>
                <a:sym typeface="Open Sauce Bold"/>
              </a:rPr>
              <a:t>Our network has these devices:</a:t>
            </a:r>
          </a:p>
          <a:p>
            <a:pPr marL="501946" lvl="1" indent="-250973" algn="l">
              <a:lnSpc>
                <a:spcPts val="3719"/>
              </a:lnSpc>
              <a:buFont typeface="Arial"/>
              <a:buChar char="•"/>
            </a:pPr>
            <a:r>
              <a:rPr lang="en-US" sz="2324" b="1">
                <a:solidFill>
                  <a:srgbClr val="F0F0F0"/>
                </a:solidFill>
                <a:latin typeface="Calibri"/>
                <a:ea typeface="Open Sauce Bold"/>
                <a:cs typeface="Open Sauce Bold"/>
                <a:sym typeface="Open Sauce Bold"/>
              </a:rPr>
              <a:t>Internet (Cloud) - The outside world</a:t>
            </a:r>
          </a:p>
          <a:p>
            <a:pPr marL="501946" lvl="1" indent="-250973" algn="l">
              <a:lnSpc>
                <a:spcPts val="3719"/>
              </a:lnSpc>
              <a:buFont typeface="Arial"/>
              <a:buChar char="•"/>
            </a:pPr>
            <a:r>
              <a:rPr lang="en-US" sz="2324" b="1">
                <a:solidFill>
                  <a:srgbClr val="F0F0F0"/>
                </a:solidFill>
                <a:latin typeface="Calibri"/>
                <a:ea typeface="Open Sauce Bold"/>
                <a:cs typeface="Open Sauce Bold"/>
                <a:sym typeface="Open Sauce Bold"/>
              </a:rPr>
              <a:t>Primary Attacker (219.243.27.65) - Main C2 server</a:t>
            </a:r>
          </a:p>
          <a:p>
            <a:pPr marL="501946" lvl="1" indent="-250973" algn="l">
              <a:lnSpc>
                <a:spcPts val="3719"/>
              </a:lnSpc>
              <a:buFont typeface="Arial"/>
              <a:buChar char="•"/>
            </a:pPr>
            <a:r>
              <a:rPr lang="en-US" sz="2324" b="1">
                <a:solidFill>
                  <a:srgbClr val="F0F0F0"/>
                </a:solidFill>
                <a:latin typeface="Calibri"/>
                <a:ea typeface="Open Sauce Bold"/>
                <a:cs typeface="Open Sauce Bold"/>
                <a:sym typeface="Open Sauce Bold"/>
              </a:rPr>
              <a:t>Secondary Attacker (71.181.6.40) - Backup C2 server</a:t>
            </a:r>
          </a:p>
          <a:p>
            <a:pPr marL="501946" lvl="1" indent="-250973" algn="l">
              <a:lnSpc>
                <a:spcPts val="3719"/>
              </a:lnSpc>
              <a:buFont typeface="Arial"/>
              <a:buChar char="•"/>
            </a:pPr>
            <a:r>
              <a:rPr lang="en-US" sz="2324" b="1">
                <a:solidFill>
                  <a:srgbClr val="F0F0F0"/>
                </a:solidFill>
                <a:latin typeface="Calibri"/>
                <a:ea typeface="Open Sauce Bold"/>
                <a:cs typeface="Open Sauce Bold"/>
                <a:sym typeface="Open Sauce Bold"/>
              </a:rPr>
              <a:t>WiFi Router (192.168.100.1) - Home gateway</a:t>
            </a:r>
          </a:p>
          <a:p>
            <a:pPr marL="501946" lvl="1" indent="-250973" algn="l">
              <a:lnSpc>
                <a:spcPts val="3719"/>
              </a:lnSpc>
              <a:buFont typeface="Arial"/>
              <a:buChar char="•"/>
            </a:pPr>
            <a:r>
              <a:rPr lang="en-US" sz="2324" b="1">
                <a:solidFill>
                  <a:srgbClr val="F0F0F0"/>
                </a:solidFill>
                <a:latin typeface="Calibri"/>
                <a:ea typeface="Open Sauce Bold"/>
                <a:cs typeface="Open Sauce Bold"/>
                <a:sym typeface="Open Sauce Bold"/>
              </a:rPr>
              <a:t>Raspberry Pi (192.168.100.103) - Hacked device (victim)</a:t>
            </a:r>
          </a:p>
          <a:p>
            <a:pPr algn="l">
              <a:lnSpc>
                <a:spcPts val="3719"/>
              </a:lnSpc>
            </a:pPr>
            <a:endParaRPr lang="en-US" sz="2324" b="1">
              <a:solidFill>
                <a:srgbClr val="F0F0F0"/>
              </a:solidFill>
              <a:latin typeface="Calibri"/>
              <a:ea typeface="Open Sauce Bold"/>
              <a:cs typeface="Open Sauce Bold"/>
              <a:sym typeface="Open Sauce Bold"/>
            </a:endParaRPr>
          </a:p>
        </p:txBody>
      </p:sp>
      <p:sp>
        <p:nvSpPr>
          <p:cNvPr id="4" name="TextBox 4"/>
          <p:cNvSpPr txBox="1"/>
          <p:nvPr/>
        </p:nvSpPr>
        <p:spPr>
          <a:xfrm>
            <a:off x="4780211" y="1057275"/>
            <a:ext cx="9032379" cy="986409"/>
          </a:xfrm>
          <a:prstGeom prst="rect">
            <a:avLst/>
          </a:prstGeom>
        </p:spPr>
        <p:txBody>
          <a:bodyPr lIns="0" tIns="0" rIns="0" bIns="0" rtlCol="0" anchor="t">
            <a:spAutoFit/>
          </a:bodyPr>
          <a:lstStyle/>
          <a:p>
            <a:r>
              <a:t>NETWORK TOPOLOGY &amp; ATTACK PATH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pSp>
        <p:nvGrpSpPr>
          <p:cNvPr id="2" name="Group 2"/>
          <p:cNvGrpSpPr/>
          <p:nvPr/>
        </p:nvGrpSpPr>
        <p:grpSpPr>
          <a:xfrm>
            <a:off x="8522915" y="6233064"/>
            <a:ext cx="1242170" cy="594202"/>
            <a:chOff x="0" y="0"/>
            <a:chExt cx="1699147" cy="812800"/>
          </a:xfrm>
        </p:grpSpPr>
        <p:sp>
          <p:nvSpPr>
            <p:cNvPr id="3" name="Freeform 3"/>
            <p:cNvSpPr/>
            <p:nvPr/>
          </p:nvSpPr>
          <p:spPr>
            <a:xfrm>
              <a:off x="0" y="0"/>
              <a:ext cx="1699147" cy="812800"/>
            </a:xfrm>
            <a:custGeom>
              <a:avLst/>
              <a:gdLst/>
              <a:ahLst/>
              <a:cxnLst/>
              <a:rect l="l" t="t" r="r" b="b"/>
              <a:pathLst>
                <a:path w="1699147" h="812800">
                  <a:moveTo>
                    <a:pt x="1699147" y="406400"/>
                  </a:moveTo>
                  <a:lnTo>
                    <a:pt x="1292747" y="0"/>
                  </a:lnTo>
                  <a:lnTo>
                    <a:pt x="1292747" y="203200"/>
                  </a:lnTo>
                  <a:lnTo>
                    <a:pt x="0" y="203200"/>
                  </a:lnTo>
                  <a:lnTo>
                    <a:pt x="0" y="609600"/>
                  </a:lnTo>
                  <a:lnTo>
                    <a:pt x="1292747" y="609600"/>
                  </a:lnTo>
                  <a:lnTo>
                    <a:pt x="1292747" y="812800"/>
                  </a:lnTo>
                  <a:lnTo>
                    <a:pt x="1699147" y="406400"/>
                  </a:lnTo>
                  <a:close/>
                </a:path>
              </a:pathLst>
            </a:custGeom>
            <a:solidFill>
              <a:srgbClr val="303870"/>
            </a:solidFill>
          </p:spPr>
        </p:sp>
        <p:sp>
          <p:nvSpPr>
            <p:cNvPr id="4" name="TextBox 4"/>
            <p:cNvSpPr txBox="1"/>
            <p:nvPr/>
          </p:nvSpPr>
          <p:spPr>
            <a:xfrm>
              <a:off x="0" y="165100"/>
              <a:ext cx="1597547" cy="444500"/>
            </a:xfrm>
            <a:prstGeom prst="rect">
              <a:avLst/>
            </a:prstGeom>
          </p:spPr>
          <p:txBody>
            <a:bodyPr lIns="50800" tIns="50800" rIns="50800" bIns="50800" rtlCol="0" anchor="ctr"/>
            <a:lstStyle/>
            <a:p>
              <a:pPr algn="ctr">
                <a:lnSpc>
                  <a:spcPts val="2799"/>
                </a:lnSpc>
              </a:pPr>
              <a:endParaRPr/>
            </a:p>
          </p:txBody>
        </p:sp>
      </p:grpSp>
      <p:sp>
        <p:nvSpPr>
          <p:cNvPr id="5" name="TextBox 5"/>
          <p:cNvSpPr txBox="1"/>
          <p:nvPr/>
        </p:nvSpPr>
        <p:spPr>
          <a:xfrm>
            <a:off x="2993282" y="3967694"/>
            <a:ext cx="4032717" cy="496570"/>
          </a:xfrm>
          <a:prstGeom prst="rect">
            <a:avLst/>
          </a:prstGeom>
        </p:spPr>
        <p:txBody>
          <a:bodyPr lIns="0" tIns="0" rIns="0" bIns="0" rtlCol="0" anchor="t">
            <a:spAutoFit/>
          </a:bodyPr>
          <a:lstStyle/>
          <a:p>
            <a:pPr algn="ctr">
              <a:lnSpc>
                <a:spcPts val="3799"/>
              </a:lnSpc>
            </a:pPr>
            <a:r>
              <a:rPr lang="en-US" sz="3799" b="1">
                <a:solidFill>
                  <a:srgbClr val="F0F0F0"/>
                </a:solidFill>
                <a:latin typeface="Calibri"/>
                <a:ea typeface="Canva Sans Bold"/>
                <a:cs typeface="Canva Sans Bold"/>
                <a:sym typeface="Canva Sans Bold"/>
              </a:rPr>
              <a:t>DID</a:t>
            </a:r>
          </a:p>
        </p:txBody>
      </p:sp>
      <p:sp>
        <p:nvSpPr>
          <p:cNvPr id="6" name="TextBox 6"/>
          <p:cNvSpPr txBox="1"/>
          <p:nvPr/>
        </p:nvSpPr>
        <p:spPr>
          <a:xfrm>
            <a:off x="10558161" y="4002353"/>
            <a:ext cx="4032717" cy="496570"/>
          </a:xfrm>
          <a:prstGeom prst="rect">
            <a:avLst/>
          </a:prstGeom>
        </p:spPr>
        <p:txBody>
          <a:bodyPr lIns="0" tIns="0" rIns="0" bIns="0" rtlCol="0" anchor="t">
            <a:spAutoFit/>
          </a:bodyPr>
          <a:lstStyle/>
          <a:p>
            <a:pPr algn="ctr">
              <a:lnSpc>
                <a:spcPts val="3799"/>
              </a:lnSpc>
            </a:pPr>
            <a:r>
              <a:rPr lang="en-US" sz="3799" b="1">
                <a:solidFill>
                  <a:srgbClr val="F0F0F0"/>
                </a:solidFill>
                <a:latin typeface="Calibri"/>
                <a:ea typeface="Canva Sans Bold"/>
                <a:cs typeface="Canva Sans Bold"/>
                <a:sym typeface="Canva Sans Bold"/>
              </a:rPr>
              <a:t>FINDINGS</a:t>
            </a:r>
          </a:p>
        </p:txBody>
      </p:sp>
      <p:sp>
        <p:nvSpPr>
          <p:cNvPr id="7" name="TextBox 7"/>
          <p:cNvSpPr txBox="1"/>
          <p:nvPr/>
        </p:nvSpPr>
        <p:spPr>
          <a:xfrm>
            <a:off x="2727633" y="5803310"/>
            <a:ext cx="4420211" cy="1336167"/>
          </a:xfrm>
          <a:prstGeom prst="rect">
            <a:avLst/>
          </a:prstGeom>
        </p:spPr>
        <p:txBody>
          <a:bodyPr lIns="0" tIns="0" rIns="0" bIns="0" rtlCol="0" anchor="t">
            <a:spAutoFit/>
          </a:bodyPr>
          <a:lstStyle/>
          <a:p>
            <a:pPr marL="0" lvl="0" indent="0" algn="l">
              <a:lnSpc>
                <a:spcPts val="3528"/>
              </a:lnSpc>
              <a:spcBef>
                <a:spcPct val="0"/>
              </a:spcBef>
            </a:pPr>
            <a:r>
              <a:rPr lang="en-US" sz="2520" spc="-50">
                <a:solidFill>
                  <a:srgbClr val="F0F0F0"/>
                </a:solidFill>
                <a:latin typeface="Calibri"/>
                <a:ea typeface="Lato"/>
                <a:cs typeface="Lato"/>
                <a:sym typeface="Lato"/>
              </a:rPr>
              <a:t>W</a:t>
            </a:r>
            <a:r>
              <a:rPr lang="en-US" sz="2520" u="none" strike="noStrike" spc="-50">
                <a:solidFill>
                  <a:srgbClr val="F0F0F0"/>
                </a:solidFill>
                <a:latin typeface="Calibri"/>
                <a:ea typeface="Lato"/>
                <a:cs typeface="Lato"/>
                <a:sym typeface="Lato"/>
              </a:rPr>
              <a:t>e identified the compromised device by analyzing the PCAP file in Wireshark</a:t>
            </a:r>
          </a:p>
        </p:txBody>
      </p:sp>
      <p:sp>
        <p:nvSpPr>
          <p:cNvPr id="8" name="TextBox 8"/>
          <p:cNvSpPr txBox="1"/>
          <p:nvPr/>
        </p:nvSpPr>
        <p:spPr>
          <a:xfrm>
            <a:off x="10812385" y="5086350"/>
            <a:ext cx="5399615" cy="2679192"/>
          </a:xfrm>
          <a:prstGeom prst="rect">
            <a:avLst/>
          </a:prstGeom>
        </p:spPr>
        <p:txBody>
          <a:bodyPr lIns="0" tIns="0" rIns="0" bIns="0" rtlCol="0" anchor="t">
            <a:spAutoFit/>
          </a:bodyPr>
          <a:lstStyle/>
          <a:p>
            <a:pPr algn="l">
              <a:lnSpc>
                <a:spcPts val="3528"/>
              </a:lnSpc>
            </a:pPr>
            <a:r>
              <a:rPr lang="en-US" sz="2520" spc="-50">
                <a:solidFill>
                  <a:srgbClr val="F0F0F0"/>
                </a:solidFill>
                <a:latin typeface="Calibri"/>
                <a:ea typeface="Lato"/>
                <a:cs typeface="Lato"/>
                <a:sym typeface="Lato"/>
              </a:rPr>
              <a:t>• Device: Raspberry Pi</a:t>
            </a:r>
          </a:p>
          <a:p>
            <a:pPr algn="l">
              <a:lnSpc>
                <a:spcPts val="3528"/>
              </a:lnSpc>
            </a:pPr>
            <a:r>
              <a:rPr lang="en-US" sz="2520" spc="-50">
                <a:solidFill>
                  <a:srgbClr val="F0F0F0"/>
                </a:solidFill>
                <a:latin typeface="Calibri"/>
                <a:ea typeface="Lato"/>
                <a:cs typeface="Lato"/>
                <a:sym typeface="Lato"/>
              </a:rPr>
              <a:t>• IP: 192.168.100.103</a:t>
            </a:r>
          </a:p>
          <a:p>
            <a:pPr algn="l">
              <a:lnSpc>
                <a:spcPts val="3528"/>
              </a:lnSpc>
            </a:pPr>
            <a:r>
              <a:rPr lang="en-US" sz="2520" spc="-50">
                <a:solidFill>
                  <a:srgbClr val="F0F0F0"/>
                </a:solidFill>
                <a:latin typeface="Calibri"/>
                <a:ea typeface="Lato"/>
                <a:cs typeface="Lato"/>
                <a:sym typeface="Lato"/>
              </a:rPr>
              <a:t>• MAC: 58:27:eb:c7:e9:c9</a:t>
            </a:r>
          </a:p>
          <a:p>
            <a:pPr algn="l">
              <a:lnSpc>
                <a:spcPts val="3528"/>
              </a:lnSpc>
            </a:pPr>
            <a:r>
              <a:rPr lang="en-US" sz="2520" spc="-50">
                <a:solidFill>
                  <a:srgbClr val="F0F0F0"/>
                </a:solidFill>
                <a:latin typeface="Calibri"/>
                <a:ea typeface="Lato"/>
                <a:cs typeface="Lato"/>
                <a:sym typeface="Lato"/>
              </a:rPr>
              <a:t>• Vendor: Raspberry Pi Foundation</a:t>
            </a:r>
          </a:p>
          <a:p>
            <a:pPr algn="l">
              <a:lnSpc>
                <a:spcPts val="3528"/>
              </a:lnSpc>
            </a:pPr>
            <a:r>
              <a:rPr lang="en-US" sz="2520" spc="-50">
                <a:solidFill>
                  <a:srgbClr val="F0F0F0"/>
                </a:solidFill>
                <a:latin typeface="Calibri"/>
                <a:ea typeface="Lato"/>
                <a:cs typeface="Lato"/>
                <a:sym typeface="Lato"/>
              </a:rPr>
              <a:t>• Status: Compromised</a:t>
            </a:r>
          </a:p>
          <a:p>
            <a:pPr marL="0" lvl="0" indent="0" algn="l">
              <a:lnSpc>
                <a:spcPts val="3528"/>
              </a:lnSpc>
              <a:spcBef>
                <a:spcPct val="0"/>
              </a:spcBef>
            </a:pPr>
            <a:r>
              <a:rPr lang="en-US" sz="2520" spc="-50">
                <a:solidFill>
                  <a:srgbClr val="F0F0F0"/>
                </a:solidFill>
                <a:latin typeface="Calibri"/>
                <a:ea typeface="Lato"/>
                <a:cs typeface="Lato"/>
                <a:sym typeface="Lato"/>
              </a:rPr>
              <a:t>• Attack Role: Botnet Scanner</a:t>
            </a:r>
          </a:p>
        </p:txBody>
      </p:sp>
      <p:sp>
        <p:nvSpPr>
          <p:cNvPr id="9" name="TextBox 9"/>
          <p:cNvSpPr txBox="1"/>
          <p:nvPr/>
        </p:nvSpPr>
        <p:spPr>
          <a:xfrm>
            <a:off x="2709193" y="857250"/>
            <a:ext cx="12869614" cy="1294429"/>
          </a:xfrm>
          <a:prstGeom prst="rect">
            <a:avLst/>
          </a:prstGeom>
        </p:spPr>
        <p:txBody>
          <a:bodyPr lIns="0" tIns="0" rIns="0" bIns="0" rtlCol="0" anchor="t">
            <a:spAutoFit/>
          </a:bodyPr>
          <a:lstStyle/>
          <a:p>
            <a:r>
              <a:t>COMPROMISED DEVICE ANALYSIS</a:t>
            </a:r>
          </a:p>
        </p:txBody>
      </p:sp>
      <p:grpSp>
        <p:nvGrpSpPr>
          <p:cNvPr id="10" name="Group 10"/>
          <p:cNvGrpSpPr/>
          <p:nvPr/>
        </p:nvGrpSpPr>
        <p:grpSpPr>
          <a:xfrm>
            <a:off x="17259300" y="0"/>
            <a:ext cx="3086100" cy="10287000"/>
            <a:chOff x="0" y="0"/>
            <a:chExt cx="812800" cy="2709333"/>
          </a:xfrm>
        </p:grpSpPr>
        <p:sp>
          <p:nvSpPr>
            <p:cNvPr id="11" name="Freeform 11"/>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12" name="TextBox 12"/>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grpSp>
        <p:nvGrpSpPr>
          <p:cNvPr id="13" name="Group 13"/>
          <p:cNvGrpSpPr/>
          <p:nvPr/>
        </p:nvGrpSpPr>
        <p:grpSpPr>
          <a:xfrm>
            <a:off x="1684636" y="3586124"/>
            <a:ext cx="6650008" cy="5293881"/>
            <a:chOff x="0" y="0"/>
            <a:chExt cx="1751442" cy="1394273"/>
          </a:xfrm>
        </p:grpSpPr>
        <p:sp>
          <p:nvSpPr>
            <p:cNvPr id="14" name="Freeform 14"/>
            <p:cNvSpPr/>
            <p:nvPr/>
          </p:nvSpPr>
          <p:spPr>
            <a:xfrm>
              <a:off x="0" y="0"/>
              <a:ext cx="1751443" cy="1394273"/>
            </a:xfrm>
            <a:custGeom>
              <a:avLst/>
              <a:gdLst/>
              <a:ahLst/>
              <a:cxnLst/>
              <a:rect l="l" t="t" r="r" b="b"/>
              <a:pathLst>
                <a:path w="1751443" h="1394273">
                  <a:moveTo>
                    <a:pt x="116420" y="0"/>
                  </a:moveTo>
                  <a:lnTo>
                    <a:pt x="1635023" y="0"/>
                  </a:lnTo>
                  <a:cubicBezTo>
                    <a:pt x="1699320" y="0"/>
                    <a:pt x="1751443" y="52123"/>
                    <a:pt x="1751443" y="116420"/>
                  </a:cubicBezTo>
                  <a:lnTo>
                    <a:pt x="1751443" y="1277853"/>
                  </a:lnTo>
                  <a:cubicBezTo>
                    <a:pt x="1751443" y="1342150"/>
                    <a:pt x="1699320" y="1394273"/>
                    <a:pt x="1635023" y="1394273"/>
                  </a:cubicBezTo>
                  <a:lnTo>
                    <a:pt x="116420" y="1394273"/>
                  </a:lnTo>
                  <a:cubicBezTo>
                    <a:pt x="52123" y="1394273"/>
                    <a:pt x="0" y="1342150"/>
                    <a:pt x="0" y="1277853"/>
                  </a:cubicBezTo>
                  <a:lnTo>
                    <a:pt x="0" y="116420"/>
                  </a:lnTo>
                  <a:cubicBezTo>
                    <a:pt x="0" y="52123"/>
                    <a:pt x="52123" y="0"/>
                    <a:pt x="116420" y="0"/>
                  </a:cubicBezTo>
                  <a:close/>
                </a:path>
              </a:pathLst>
            </a:custGeom>
            <a:ln w="38100" cap="rnd">
              <a:solidFill>
                <a:srgbClr val="303870"/>
              </a:solidFill>
              <a:prstDash val="solid"/>
              <a:round/>
            </a:ln>
          </p:spPr>
        </p:sp>
        <p:sp>
          <p:nvSpPr>
            <p:cNvPr id="15" name="TextBox 15"/>
            <p:cNvSpPr txBox="1"/>
            <p:nvPr/>
          </p:nvSpPr>
          <p:spPr>
            <a:xfrm>
              <a:off x="0" y="-95250"/>
              <a:ext cx="1751442" cy="1489523"/>
            </a:xfrm>
            <a:prstGeom prst="rect">
              <a:avLst/>
            </a:prstGeom>
          </p:spPr>
          <p:txBody>
            <a:bodyPr lIns="50800" tIns="50800" rIns="50800" bIns="50800" rtlCol="0" anchor="ctr"/>
            <a:lstStyle/>
            <a:p>
              <a:pPr algn="ctr">
                <a:lnSpc>
                  <a:spcPts val="3287"/>
                </a:lnSpc>
              </a:pPr>
              <a:endParaRPr/>
            </a:p>
          </p:txBody>
        </p:sp>
      </p:grpSp>
      <p:grpSp>
        <p:nvGrpSpPr>
          <p:cNvPr id="16" name="Group 16"/>
          <p:cNvGrpSpPr/>
          <p:nvPr/>
        </p:nvGrpSpPr>
        <p:grpSpPr>
          <a:xfrm>
            <a:off x="9955585" y="3586124"/>
            <a:ext cx="6650008" cy="5293881"/>
            <a:chOff x="0" y="0"/>
            <a:chExt cx="1751442" cy="1394273"/>
          </a:xfrm>
        </p:grpSpPr>
        <p:sp>
          <p:nvSpPr>
            <p:cNvPr id="17" name="Freeform 17"/>
            <p:cNvSpPr/>
            <p:nvPr/>
          </p:nvSpPr>
          <p:spPr>
            <a:xfrm>
              <a:off x="0" y="0"/>
              <a:ext cx="1751443" cy="1394273"/>
            </a:xfrm>
            <a:custGeom>
              <a:avLst/>
              <a:gdLst/>
              <a:ahLst/>
              <a:cxnLst/>
              <a:rect l="l" t="t" r="r" b="b"/>
              <a:pathLst>
                <a:path w="1751443" h="1394273">
                  <a:moveTo>
                    <a:pt x="116420" y="0"/>
                  </a:moveTo>
                  <a:lnTo>
                    <a:pt x="1635023" y="0"/>
                  </a:lnTo>
                  <a:cubicBezTo>
                    <a:pt x="1699320" y="0"/>
                    <a:pt x="1751443" y="52123"/>
                    <a:pt x="1751443" y="116420"/>
                  </a:cubicBezTo>
                  <a:lnTo>
                    <a:pt x="1751443" y="1277853"/>
                  </a:lnTo>
                  <a:cubicBezTo>
                    <a:pt x="1751443" y="1342150"/>
                    <a:pt x="1699320" y="1394273"/>
                    <a:pt x="1635023" y="1394273"/>
                  </a:cubicBezTo>
                  <a:lnTo>
                    <a:pt x="116420" y="1394273"/>
                  </a:lnTo>
                  <a:cubicBezTo>
                    <a:pt x="52123" y="1394273"/>
                    <a:pt x="0" y="1342150"/>
                    <a:pt x="0" y="1277853"/>
                  </a:cubicBezTo>
                  <a:lnTo>
                    <a:pt x="0" y="116420"/>
                  </a:lnTo>
                  <a:cubicBezTo>
                    <a:pt x="0" y="52123"/>
                    <a:pt x="52123" y="0"/>
                    <a:pt x="116420" y="0"/>
                  </a:cubicBezTo>
                  <a:close/>
                </a:path>
              </a:pathLst>
            </a:custGeom>
            <a:ln w="38100" cap="rnd">
              <a:solidFill>
                <a:srgbClr val="303870"/>
              </a:solidFill>
              <a:prstDash val="solid"/>
              <a:round/>
            </a:ln>
          </p:spPr>
        </p:sp>
        <p:sp>
          <p:nvSpPr>
            <p:cNvPr id="18" name="TextBox 18"/>
            <p:cNvSpPr txBox="1"/>
            <p:nvPr/>
          </p:nvSpPr>
          <p:spPr>
            <a:xfrm>
              <a:off x="0" y="-95250"/>
              <a:ext cx="1751442" cy="1489523"/>
            </a:xfrm>
            <a:prstGeom prst="rect">
              <a:avLst/>
            </a:prstGeom>
          </p:spPr>
          <p:txBody>
            <a:bodyPr lIns="50800" tIns="50800" rIns="50800" bIns="50800" rtlCol="0" anchor="ctr"/>
            <a:lstStyle/>
            <a:p>
              <a:pPr algn="ctr">
                <a:lnSpc>
                  <a:spcPts val="3287"/>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Freeform 2"/>
          <p:cNvSpPr/>
          <p:nvPr/>
        </p:nvSpPr>
        <p:spPr>
          <a:xfrm>
            <a:off x="15435602" y="226100"/>
            <a:ext cx="2512516" cy="2485107"/>
          </a:xfrm>
          <a:custGeom>
            <a:avLst/>
            <a:gdLst/>
            <a:ahLst/>
            <a:cxnLst/>
            <a:rect l="l" t="t" r="r" b="b"/>
            <a:pathLst>
              <a:path w="2512516" h="2485107">
                <a:moveTo>
                  <a:pt x="0" y="0"/>
                </a:moveTo>
                <a:lnTo>
                  <a:pt x="2512516" y="0"/>
                </a:lnTo>
                <a:lnTo>
                  <a:pt x="2512516" y="2485107"/>
                </a:lnTo>
                <a:lnTo>
                  <a:pt x="0" y="24851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3" name="Freeform 3"/>
          <p:cNvSpPr/>
          <p:nvPr/>
        </p:nvSpPr>
        <p:spPr>
          <a:xfrm rot="-10800000">
            <a:off x="0" y="7799910"/>
            <a:ext cx="2514521" cy="2487090"/>
          </a:xfrm>
          <a:custGeom>
            <a:avLst/>
            <a:gdLst/>
            <a:ahLst/>
            <a:cxnLst/>
            <a:rect l="l" t="t" r="r" b="b"/>
            <a:pathLst>
              <a:path w="2514521" h="2487090">
                <a:moveTo>
                  <a:pt x="0" y="0"/>
                </a:moveTo>
                <a:lnTo>
                  <a:pt x="2514521" y="0"/>
                </a:lnTo>
                <a:lnTo>
                  <a:pt x="2514521" y="2487090"/>
                </a:lnTo>
                <a:lnTo>
                  <a:pt x="0" y="248709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1755198" y="1468654"/>
            <a:ext cx="14413405" cy="7585054"/>
          </a:xfrm>
          <a:custGeom>
            <a:avLst/>
            <a:gdLst/>
            <a:ahLst/>
            <a:cxnLst/>
            <a:rect l="l" t="t" r="r" b="b"/>
            <a:pathLst>
              <a:path w="14413405" h="7585054">
                <a:moveTo>
                  <a:pt x="0" y="0"/>
                </a:moveTo>
                <a:lnTo>
                  <a:pt x="14413405" y="0"/>
                </a:lnTo>
                <a:lnTo>
                  <a:pt x="14413405" y="7585054"/>
                </a:lnTo>
                <a:lnTo>
                  <a:pt x="0" y="7585054"/>
                </a:lnTo>
                <a:lnTo>
                  <a:pt x="0" y="0"/>
                </a:lnTo>
                <a:close/>
              </a:path>
            </a:pathLst>
          </a:custGeom>
          <a:blipFill>
            <a:blip r:embed="rId4"/>
            <a:stretch>
              <a:fillRect/>
            </a:stretch>
          </a:blipFill>
        </p:spPr>
        <p:txBody>
          <a:bodyPr/>
          <a:lstStyle/>
          <a:p>
            <a:endParaRPr/>
          </a:p>
        </p:txBody>
      </p:sp>
      <p:sp>
        <p:nvSpPr>
          <p:cNvPr id="5" name="TextBox 5"/>
          <p:cNvSpPr txBox="1"/>
          <p:nvPr/>
        </p:nvSpPr>
        <p:spPr>
          <a:xfrm>
            <a:off x="2446435" y="64175"/>
            <a:ext cx="12697173" cy="1185082"/>
          </a:xfrm>
          <a:prstGeom prst="rect">
            <a:avLst/>
          </a:prstGeom>
        </p:spPr>
        <p:txBody>
          <a:bodyPr lIns="0" tIns="0" rIns="0" bIns="0" rtlCol="0" anchor="t">
            <a:spAutoFit/>
          </a:bodyPr>
          <a:lstStyle/>
          <a:p>
            <a:pPr algn="ctr">
              <a:lnSpc>
                <a:spcPts val="7720"/>
              </a:lnSpc>
            </a:pPr>
            <a:r>
              <a:rPr lang="en-US" sz="6772" b="1">
                <a:solidFill>
                  <a:srgbClr val="F0F0F0"/>
                </a:solidFill>
                <a:latin typeface="Calibri"/>
                <a:ea typeface="Agrandir Wide Bold"/>
                <a:cs typeface="Agrandir Wide Bold"/>
                <a:sym typeface="Agrandir Wide Bold"/>
              </a:rPr>
              <a:t>EVIDENCE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pSp>
        <p:nvGrpSpPr>
          <p:cNvPr id="2" name="Group 2"/>
          <p:cNvGrpSpPr/>
          <p:nvPr/>
        </p:nvGrpSpPr>
        <p:grpSpPr>
          <a:xfrm>
            <a:off x="1030917" y="3990495"/>
            <a:ext cx="4553246" cy="2608593"/>
            <a:chOff x="0" y="0"/>
            <a:chExt cx="6070995" cy="3478123"/>
          </a:xfrm>
        </p:grpSpPr>
        <p:sp>
          <p:nvSpPr>
            <p:cNvPr id="3" name="TextBox 3"/>
            <p:cNvSpPr txBox="1"/>
            <p:nvPr/>
          </p:nvSpPr>
          <p:spPr>
            <a:xfrm>
              <a:off x="1042201" y="-66675"/>
              <a:ext cx="3662494" cy="632249"/>
            </a:xfrm>
            <a:prstGeom prst="rect">
              <a:avLst/>
            </a:prstGeom>
          </p:spPr>
          <p:txBody>
            <a:bodyPr lIns="0" tIns="0" rIns="0" bIns="0" rtlCol="0" anchor="t">
              <a:spAutoFit/>
            </a:bodyPr>
            <a:lstStyle/>
            <a:p>
              <a:pPr algn="ctr">
                <a:lnSpc>
                  <a:spcPts val="3919"/>
                </a:lnSpc>
                <a:spcBef>
                  <a:spcPct val="0"/>
                </a:spcBef>
              </a:pPr>
              <a:r>
                <a:rPr lang="en-US" sz="2799" b="1">
                  <a:solidFill>
                    <a:srgbClr val="303870"/>
                  </a:solidFill>
                  <a:latin typeface="Open Sauce Bold"/>
                  <a:ea typeface="Open Sauce Bold"/>
                  <a:cs typeface="Open Sauce Bold"/>
                  <a:sym typeface="Open Sauce Bold"/>
                </a:rPr>
                <a:t>DID</a:t>
              </a:r>
            </a:p>
          </p:txBody>
        </p:sp>
        <p:sp>
          <p:nvSpPr>
            <p:cNvPr id="4" name="TextBox 4"/>
            <p:cNvSpPr txBox="1"/>
            <p:nvPr/>
          </p:nvSpPr>
          <p:spPr>
            <a:xfrm>
              <a:off x="0" y="1128189"/>
              <a:ext cx="6070995" cy="2349934"/>
            </a:xfrm>
            <a:prstGeom prst="rect">
              <a:avLst/>
            </a:prstGeom>
          </p:spPr>
          <p:txBody>
            <a:bodyPr lIns="0" tIns="0" rIns="0" bIns="0" rtlCol="0" anchor="t">
              <a:spAutoFit/>
            </a:bodyPr>
            <a:lstStyle/>
            <a:p>
              <a:pPr algn="l">
                <a:lnSpc>
                  <a:spcPts val="3525"/>
                </a:lnSpc>
                <a:spcBef>
                  <a:spcPct val="0"/>
                </a:spcBef>
              </a:pPr>
              <a:r>
                <a:rPr lang="en-US" sz="2518">
                  <a:solidFill>
                    <a:srgbClr val="303870"/>
                  </a:solidFill>
                  <a:latin typeface="Open Sauce"/>
                  <a:ea typeface="Open Sauce"/>
                  <a:cs typeface="Open Sauce"/>
                  <a:sym typeface="Open Sauce"/>
                </a:rPr>
                <a:t>The attacker's server (219.243.27.65) sent many Telnet packets to the hacked device (192.168.100.103)</a:t>
              </a:r>
            </a:p>
          </p:txBody>
        </p:sp>
      </p:grpSp>
      <p:grpSp>
        <p:nvGrpSpPr>
          <p:cNvPr id="5" name="Group 5"/>
          <p:cNvGrpSpPr/>
          <p:nvPr/>
        </p:nvGrpSpPr>
        <p:grpSpPr>
          <a:xfrm>
            <a:off x="6347251" y="4072234"/>
            <a:ext cx="5603120" cy="2888266"/>
            <a:chOff x="0" y="0"/>
            <a:chExt cx="7470826" cy="3851021"/>
          </a:xfrm>
        </p:grpSpPr>
        <p:sp>
          <p:nvSpPr>
            <p:cNvPr id="6" name="TextBox 6"/>
            <p:cNvSpPr txBox="1"/>
            <p:nvPr/>
          </p:nvSpPr>
          <p:spPr>
            <a:xfrm>
              <a:off x="1254969" y="-66675"/>
              <a:ext cx="3662494" cy="632249"/>
            </a:xfrm>
            <a:prstGeom prst="rect">
              <a:avLst/>
            </a:prstGeom>
          </p:spPr>
          <p:txBody>
            <a:bodyPr lIns="0" tIns="0" rIns="0" bIns="0" rtlCol="0" anchor="t">
              <a:spAutoFit/>
            </a:bodyPr>
            <a:lstStyle/>
            <a:p>
              <a:pPr algn="ctr">
                <a:lnSpc>
                  <a:spcPts val="3919"/>
                </a:lnSpc>
                <a:spcBef>
                  <a:spcPct val="0"/>
                </a:spcBef>
              </a:pPr>
              <a:r>
                <a:rPr lang="en-US" sz="2799" b="1">
                  <a:solidFill>
                    <a:srgbClr val="303870"/>
                  </a:solidFill>
                  <a:latin typeface="Open Sauce Bold"/>
                  <a:ea typeface="Open Sauce Bold"/>
                  <a:cs typeface="Open Sauce Bold"/>
                  <a:sym typeface="Open Sauce Bold"/>
                </a:rPr>
                <a:t>FINDINGS</a:t>
              </a:r>
            </a:p>
          </p:txBody>
        </p:sp>
        <p:sp>
          <p:nvSpPr>
            <p:cNvPr id="7" name="TextBox 7"/>
            <p:cNvSpPr txBox="1"/>
            <p:nvPr/>
          </p:nvSpPr>
          <p:spPr>
            <a:xfrm>
              <a:off x="0" y="1452401"/>
              <a:ext cx="7470826" cy="2398620"/>
            </a:xfrm>
            <a:prstGeom prst="rect">
              <a:avLst/>
            </a:prstGeom>
          </p:spPr>
          <p:txBody>
            <a:bodyPr lIns="0" tIns="0" rIns="0" bIns="0" rtlCol="0" anchor="t">
              <a:spAutoFit/>
            </a:bodyPr>
            <a:lstStyle/>
            <a:p>
              <a:pPr algn="l">
                <a:lnSpc>
                  <a:spcPts val="3613"/>
                </a:lnSpc>
              </a:pPr>
              <a:r>
                <a:rPr lang="en-US" sz="2580">
                  <a:solidFill>
                    <a:srgbClr val="303870"/>
                  </a:solidFill>
                  <a:latin typeface="Open Sauce"/>
                  <a:ea typeface="Open Sauce"/>
                  <a:cs typeface="Open Sauce"/>
                  <a:sym typeface="Open Sauce"/>
                </a:rPr>
                <a:t>• Attacker IP: 219.243.27.65</a:t>
              </a:r>
            </a:p>
            <a:p>
              <a:pPr algn="l">
                <a:lnSpc>
                  <a:spcPts val="3613"/>
                </a:lnSpc>
              </a:pPr>
              <a:r>
                <a:rPr lang="en-US" sz="2580">
                  <a:solidFill>
                    <a:srgbClr val="303870"/>
                  </a:solidFill>
                  <a:latin typeface="Open Sauce"/>
                  <a:ea typeface="Open Sauce"/>
                  <a:cs typeface="Open Sauce"/>
                  <a:sym typeface="Open Sauce"/>
                </a:rPr>
                <a:t>• Used Telnet (Port 23)</a:t>
              </a:r>
            </a:p>
            <a:p>
              <a:pPr algn="l">
                <a:lnSpc>
                  <a:spcPts val="3613"/>
                </a:lnSpc>
              </a:pPr>
              <a:r>
                <a:rPr lang="en-US" sz="2580">
                  <a:solidFill>
                    <a:srgbClr val="303870"/>
                  </a:solidFill>
                  <a:latin typeface="Open Sauce"/>
                  <a:ea typeface="Open Sauce"/>
                  <a:cs typeface="Open Sauce"/>
                  <a:sym typeface="Open Sauce"/>
                </a:rPr>
                <a:t>• Packet size: 60 to 236+ bytes</a:t>
              </a:r>
            </a:p>
            <a:p>
              <a:pPr algn="l">
                <a:lnSpc>
                  <a:spcPts val="3613"/>
                </a:lnSpc>
                <a:spcBef>
                  <a:spcPct val="0"/>
                </a:spcBef>
              </a:pPr>
              <a:r>
                <a:rPr lang="en-US" sz="2580">
                  <a:solidFill>
                    <a:srgbClr val="303870"/>
                  </a:solidFill>
                  <a:latin typeface="Open Sauce"/>
                  <a:ea typeface="Open Sauce"/>
                  <a:cs typeface="Open Sauce"/>
                  <a:sym typeface="Open Sauce"/>
                </a:rPr>
                <a:t>• Non-stop data flow</a:t>
              </a:r>
            </a:p>
          </p:txBody>
        </p:sp>
      </p:grpSp>
      <p:grpSp>
        <p:nvGrpSpPr>
          <p:cNvPr id="8" name="Group 8"/>
          <p:cNvGrpSpPr/>
          <p:nvPr/>
        </p:nvGrpSpPr>
        <p:grpSpPr>
          <a:xfrm>
            <a:off x="11980200" y="4004862"/>
            <a:ext cx="4761633" cy="3505909"/>
            <a:chOff x="0" y="0"/>
            <a:chExt cx="6348844" cy="4674546"/>
          </a:xfrm>
        </p:grpSpPr>
        <p:sp>
          <p:nvSpPr>
            <p:cNvPr id="9" name="TextBox 9"/>
            <p:cNvSpPr txBox="1"/>
            <p:nvPr/>
          </p:nvSpPr>
          <p:spPr>
            <a:xfrm>
              <a:off x="435076" y="-66675"/>
              <a:ext cx="4917218" cy="632249"/>
            </a:xfrm>
            <a:prstGeom prst="rect">
              <a:avLst/>
            </a:prstGeom>
          </p:spPr>
          <p:txBody>
            <a:bodyPr lIns="0" tIns="0" rIns="0" bIns="0" rtlCol="0" anchor="t">
              <a:spAutoFit/>
            </a:bodyPr>
            <a:lstStyle/>
            <a:p>
              <a:pPr algn="ctr">
                <a:lnSpc>
                  <a:spcPts val="3919"/>
                </a:lnSpc>
                <a:spcBef>
                  <a:spcPct val="0"/>
                </a:spcBef>
              </a:pPr>
              <a:r>
                <a:rPr lang="en-US" sz="2799" b="1">
                  <a:solidFill>
                    <a:srgbClr val="303870"/>
                  </a:solidFill>
                  <a:latin typeface="Open Sauce Bold"/>
                  <a:ea typeface="Open Sauce Bold"/>
                  <a:cs typeface="Open Sauce Bold"/>
                  <a:sym typeface="Open Sauce Bold"/>
                </a:rPr>
                <a:t>WHY IS IT CRITICAL</a:t>
              </a:r>
            </a:p>
          </p:txBody>
        </p:sp>
        <p:sp>
          <p:nvSpPr>
            <p:cNvPr id="10" name="TextBox 10"/>
            <p:cNvSpPr txBox="1"/>
            <p:nvPr/>
          </p:nvSpPr>
          <p:spPr>
            <a:xfrm>
              <a:off x="0" y="1141591"/>
              <a:ext cx="6348844" cy="3532954"/>
            </a:xfrm>
            <a:prstGeom prst="rect">
              <a:avLst/>
            </a:prstGeom>
          </p:spPr>
          <p:txBody>
            <a:bodyPr lIns="0" tIns="0" rIns="0" bIns="0" rtlCol="0" anchor="t">
              <a:spAutoFit/>
            </a:bodyPr>
            <a:lstStyle/>
            <a:p>
              <a:pPr algn="l">
                <a:lnSpc>
                  <a:spcPts val="3577"/>
                </a:lnSpc>
                <a:spcBef>
                  <a:spcPct val="0"/>
                </a:spcBef>
              </a:pPr>
              <a:r>
                <a:rPr lang="en-US" sz="2555">
                  <a:solidFill>
                    <a:srgbClr val="303870"/>
                  </a:solidFill>
                  <a:latin typeface="Open Sauce"/>
                  <a:ea typeface="Open Sauce"/>
                  <a:cs typeface="Open Sauce"/>
                  <a:sym typeface="Open Sauce"/>
                </a:rPr>
                <a:t>The attacker is controlling your device from far away. He can send any command, steal your information, or use your device to attack others. Your device is not yours anymore.</a:t>
              </a:r>
            </a:p>
          </p:txBody>
        </p:sp>
      </p:grpSp>
      <p:sp>
        <p:nvSpPr>
          <p:cNvPr id="11" name="TextBox 11"/>
          <p:cNvSpPr txBox="1"/>
          <p:nvPr/>
        </p:nvSpPr>
        <p:spPr>
          <a:xfrm>
            <a:off x="2795414" y="904875"/>
            <a:ext cx="11953482" cy="926065"/>
          </a:xfrm>
          <a:prstGeom prst="rect">
            <a:avLst/>
          </a:prstGeom>
        </p:spPr>
        <p:txBody>
          <a:bodyPr lIns="0" tIns="0" rIns="0" bIns="0" rtlCol="0" anchor="t">
            <a:spAutoFit/>
          </a:bodyPr>
          <a:lstStyle/>
          <a:p>
            <a:pPr algn="ctr">
              <a:lnSpc>
                <a:spcPts val="6020"/>
              </a:lnSpc>
            </a:pPr>
            <a:r>
              <a:rPr lang="en-US" sz="5280" b="1">
                <a:solidFill>
                  <a:srgbClr val="F0F0F0"/>
                </a:solidFill>
                <a:latin typeface="Calibri"/>
                <a:ea typeface="Agrandir Wide Bold"/>
                <a:cs typeface="Agrandir Wide Bold"/>
                <a:sym typeface="Agrandir Wide Bold"/>
              </a:rPr>
              <a:t>C2-SERVER COMMUNICATION </a:t>
            </a:r>
          </a:p>
        </p:txBody>
      </p:sp>
      <p:grpSp>
        <p:nvGrpSpPr>
          <p:cNvPr id="12" name="Group 12"/>
          <p:cNvGrpSpPr/>
          <p:nvPr/>
        </p:nvGrpSpPr>
        <p:grpSpPr>
          <a:xfrm>
            <a:off x="17740563" y="114461"/>
            <a:ext cx="3086100" cy="10287000"/>
            <a:chOff x="0" y="0"/>
            <a:chExt cx="812800" cy="2709333"/>
          </a:xfrm>
        </p:grpSpPr>
        <p:sp>
          <p:nvSpPr>
            <p:cNvPr id="13" name="Freeform 13"/>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14" name="TextBox 14"/>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grpSp>
        <p:nvGrpSpPr>
          <p:cNvPr id="15" name="Group 15"/>
          <p:cNvGrpSpPr/>
          <p:nvPr/>
        </p:nvGrpSpPr>
        <p:grpSpPr>
          <a:xfrm>
            <a:off x="2051724" y="3881375"/>
            <a:ext cx="2072916" cy="633385"/>
            <a:chOff x="0" y="0"/>
            <a:chExt cx="545953" cy="166818"/>
          </a:xfrm>
        </p:grpSpPr>
        <p:sp>
          <p:nvSpPr>
            <p:cNvPr id="16" name="Freeform 16"/>
            <p:cNvSpPr/>
            <p:nvPr/>
          </p:nvSpPr>
          <p:spPr>
            <a:xfrm>
              <a:off x="0" y="0"/>
              <a:ext cx="545953" cy="166818"/>
            </a:xfrm>
            <a:custGeom>
              <a:avLst/>
              <a:gdLst/>
              <a:ahLst/>
              <a:cxnLst/>
              <a:rect l="l" t="t" r="r" b="b"/>
              <a:pathLst>
                <a:path w="545953" h="166818">
                  <a:moveTo>
                    <a:pt x="83409" y="0"/>
                  </a:moveTo>
                  <a:lnTo>
                    <a:pt x="462544" y="0"/>
                  </a:lnTo>
                  <a:cubicBezTo>
                    <a:pt x="508610" y="0"/>
                    <a:pt x="545953" y="37343"/>
                    <a:pt x="545953" y="83409"/>
                  </a:cubicBezTo>
                  <a:lnTo>
                    <a:pt x="545953" y="83409"/>
                  </a:lnTo>
                  <a:cubicBezTo>
                    <a:pt x="545953" y="105530"/>
                    <a:pt x="537165" y="126746"/>
                    <a:pt x="521523" y="142388"/>
                  </a:cubicBezTo>
                  <a:cubicBezTo>
                    <a:pt x="505881" y="158030"/>
                    <a:pt x="484666" y="166818"/>
                    <a:pt x="462544" y="166818"/>
                  </a:cubicBezTo>
                  <a:lnTo>
                    <a:pt x="83409" y="166818"/>
                  </a:lnTo>
                  <a:cubicBezTo>
                    <a:pt x="61287" y="166818"/>
                    <a:pt x="40072" y="158030"/>
                    <a:pt x="24430" y="142388"/>
                  </a:cubicBezTo>
                  <a:cubicBezTo>
                    <a:pt x="8788" y="126746"/>
                    <a:pt x="0" y="105530"/>
                    <a:pt x="0" y="83409"/>
                  </a:cubicBezTo>
                  <a:lnTo>
                    <a:pt x="0" y="83409"/>
                  </a:lnTo>
                  <a:cubicBezTo>
                    <a:pt x="0" y="61287"/>
                    <a:pt x="8788" y="40072"/>
                    <a:pt x="24430" y="24430"/>
                  </a:cubicBezTo>
                  <a:cubicBezTo>
                    <a:pt x="40072" y="8788"/>
                    <a:pt x="61287" y="0"/>
                    <a:pt x="83409" y="0"/>
                  </a:cubicBezTo>
                  <a:close/>
                </a:path>
              </a:pathLst>
            </a:custGeom>
            <a:ln w="38100" cap="rnd">
              <a:solidFill>
                <a:srgbClr val="303870"/>
              </a:solidFill>
              <a:prstDash val="solid"/>
              <a:round/>
            </a:ln>
          </p:spPr>
        </p:sp>
        <p:sp>
          <p:nvSpPr>
            <p:cNvPr id="17" name="TextBox 17"/>
            <p:cNvSpPr txBox="1"/>
            <p:nvPr/>
          </p:nvSpPr>
          <p:spPr>
            <a:xfrm>
              <a:off x="0" y="-95250"/>
              <a:ext cx="545953" cy="262068"/>
            </a:xfrm>
            <a:prstGeom prst="rect">
              <a:avLst/>
            </a:prstGeom>
          </p:spPr>
          <p:txBody>
            <a:bodyPr lIns="50800" tIns="50800" rIns="50800" bIns="50800" rtlCol="0" anchor="ctr"/>
            <a:lstStyle/>
            <a:p>
              <a:pPr algn="ctr">
                <a:lnSpc>
                  <a:spcPts val="3287"/>
                </a:lnSpc>
              </a:pPr>
              <a:endParaRPr/>
            </a:p>
          </p:txBody>
        </p:sp>
      </p:grpSp>
      <p:grpSp>
        <p:nvGrpSpPr>
          <p:cNvPr id="18" name="Group 18"/>
          <p:cNvGrpSpPr/>
          <p:nvPr/>
        </p:nvGrpSpPr>
        <p:grpSpPr>
          <a:xfrm>
            <a:off x="7115633" y="3881375"/>
            <a:ext cx="3146674" cy="737685"/>
            <a:chOff x="0" y="0"/>
            <a:chExt cx="828754" cy="194287"/>
          </a:xfrm>
        </p:grpSpPr>
        <p:sp>
          <p:nvSpPr>
            <p:cNvPr id="19" name="Freeform 19"/>
            <p:cNvSpPr/>
            <p:nvPr/>
          </p:nvSpPr>
          <p:spPr>
            <a:xfrm>
              <a:off x="0" y="0"/>
              <a:ext cx="828754" cy="194287"/>
            </a:xfrm>
            <a:custGeom>
              <a:avLst/>
              <a:gdLst/>
              <a:ahLst/>
              <a:cxnLst/>
              <a:rect l="l" t="t" r="r" b="b"/>
              <a:pathLst>
                <a:path w="828754" h="194287">
                  <a:moveTo>
                    <a:pt x="97144" y="0"/>
                  </a:moveTo>
                  <a:lnTo>
                    <a:pt x="731610" y="0"/>
                  </a:lnTo>
                  <a:cubicBezTo>
                    <a:pt x="785261" y="0"/>
                    <a:pt x="828754" y="43493"/>
                    <a:pt x="828754" y="97144"/>
                  </a:cubicBezTo>
                  <a:lnTo>
                    <a:pt x="828754" y="97144"/>
                  </a:lnTo>
                  <a:cubicBezTo>
                    <a:pt x="828754" y="150795"/>
                    <a:pt x="785261" y="194287"/>
                    <a:pt x="731610" y="194287"/>
                  </a:cubicBezTo>
                  <a:lnTo>
                    <a:pt x="97144" y="194287"/>
                  </a:lnTo>
                  <a:cubicBezTo>
                    <a:pt x="43493" y="194287"/>
                    <a:pt x="0" y="150795"/>
                    <a:pt x="0" y="97144"/>
                  </a:cubicBezTo>
                  <a:lnTo>
                    <a:pt x="0" y="97144"/>
                  </a:lnTo>
                  <a:cubicBezTo>
                    <a:pt x="0" y="43493"/>
                    <a:pt x="43493" y="0"/>
                    <a:pt x="97144" y="0"/>
                  </a:cubicBezTo>
                  <a:close/>
                </a:path>
              </a:pathLst>
            </a:custGeom>
            <a:ln w="38100" cap="rnd">
              <a:solidFill>
                <a:srgbClr val="303870"/>
              </a:solidFill>
              <a:prstDash val="solid"/>
              <a:round/>
            </a:ln>
          </p:spPr>
        </p:sp>
        <p:sp>
          <p:nvSpPr>
            <p:cNvPr id="20" name="TextBox 20"/>
            <p:cNvSpPr txBox="1"/>
            <p:nvPr/>
          </p:nvSpPr>
          <p:spPr>
            <a:xfrm>
              <a:off x="0" y="-95250"/>
              <a:ext cx="828754" cy="289537"/>
            </a:xfrm>
            <a:prstGeom prst="rect">
              <a:avLst/>
            </a:prstGeom>
          </p:spPr>
          <p:txBody>
            <a:bodyPr lIns="50800" tIns="50800" rIns="50800" bIns="50800" rtlCol="0" anchor="ctr"/>
            <a:lstStyle/>
            <a:p>
              <a:pPr algn="ctr">
                <a:lnSpc>
                  <a:spcPts val="3287"/>
                </a:lnSpc>
              </a:pPr>
              <a:endParaRPr/>
            </a:p>
          </p:txBody>
        </p:sp>
      </p:grpSp>
      <p:grpSp>
        <p:nvGrpSpPr>
          <p:cNvPr id="21" name="Group 21"/>
          <p:cNvGrpSpPr/>
          <p:nvPr/>
        </p:nvGrpSpPr>
        <p:grpSpPr>
          <a:xfrm>
            <a:off x="11980200" y="3829225"/>
            <a:ext cx="4102129" cy="737685"/>
            <a:chOff x="0" y="0"/>
            <a:chExt cx="1080396" cy="194287"/>
          </a:xfrm>
        </p:grpSpPr>
        <p:sp>
          <p:nvSpPr>
            <p:cNvPr id="22" name="Freeform 22"/>
            <p:cNvSpPr/>
            <p:nvPr/>
          </p:nvSpPr>
          <p:spPr>
            <a:xfrm>
              <a:off x="0" y="0"/>
              <a:ext cx="1080396" cy="194287"/>
            </a:xfrm>
            <a:custGeom>
              <a:avLst/>
              <a:gdLst/>
              <a:ahLst/>
              <a:cxnLst/>
              <a:rect l="l" t="t" r="r" b="b"/>
              <a:pathLst>
                <a:path w="1080396" h="194287">
                  <a:moveTo>
                    <a:pt x="97144" y="0"/>
                  </a:moveTo>
                  <a:lnTo>
                    <a:pt x="983252" y="0"/>
                  </a:lnTo>
                  <a:cubicBezTo>
                    <a:pt x="1036903" y="0"/>
                    <a:pt x="1080396" y="43493"/>
                    <a:pt x="1080396" y="97144"/>
                  </a:cubicBezTo>
                  <a:lnTo>
                    <a:pt x="1080396" y="97144"/>
                  </a:lnTo>
                  <a:cubicBezTo>
                    <a:pt x="1080396" y="150795"/>
                    <a:pt x="1036903" y="194287"/>
                    <a:pt x="983252" y="194287"/>
                  </a:cubicBezTo>
                  <a:lnTo>
                    <a:pt x="97144" y="194287"/>
                  </a:lnTo>
                  <a:cubicBezTo>
                    <a:pt x="43493" y="194287"/>
                    <a:pt x="0" y="150795"/>
                    <a:pt x="0" y="97144"/>
                  </a:cubicBezTo>
                  <a:lnTo>
                    <a:pt x="0" y="97144"/>
                  </a:lnTo>
                  <a:cubicBezTo>
                    <a:pt x="0" y="43493"/>
                    <a:pt x="43493" y="0"/>
                    <a:pt x="97144" y="0"/>
                  </a:cubicBezTo>
                  <a:close/>
                </a:path>
              </a:pathLst>
            </a:custGeom>
            <a:ln w="38100" cap="rnd">
              <a:solidFill>
                <a:srgbClr val="303870"/>
              </a:solidFill>
              <a:prstDash val="solid"/>
              <a:round/>
            </a:ln>
          </p:spPr>
        </p:sp>
        <p:sp>
          <p:nvSpPr>
            <p:cNvPr id="23" name="TextBox 23"/>
            <p:cNvSpPr txBox="1"/>
            <p:nvPr/>
          </p:nvSpPr>
          <p:spPr>
            <a:xfrm>
              <a:off x="0" y="-95250"/>
              <a:ext cx="1080396" cy="289537"/>
            </a:xfrm>
            <a:prstGeom prst="rect">
              <a:avLst/>
            </a:prstGeom>
          </p:spPr>
          <p:txBody>
            <a:bodyPr lIns="50800" tIns="50800" rIns="50800" bIns="50800" rtlCol="0" anchor="ctr"/>
            <a:lstStyle/>
            <a:p>
              <a:pPr algn="ctr">
                <a:lnSpc>
                  <a:spcPts val="3287"/>
                </a:lnSpc>
              </a:pPr>
              <a:endParaRPr/>
            </a:p>
          </p:txBody>
        </p:sp>
      </p:grpSp>
      <p:sp>
        <p:nvSpPr>
          <p:cNvPr id="24" name="TextBox 24"/>
          <p:cNvSpPr txBox="1"/>
          <p:nvPr/>
        </p:nvSpPr>
        <p:spPr>
          <a:xfrm>
            <a:off x="2051724" y="1959317"/>
            <a:ext cx="12697173" cy="707308"/>
          </a:xfrm>
          <a:prstGeom prst="rect">
            <a:avLst/>
          </a:prstGeom>
        </p:spPr>
        <p:txBody>
          <a:bodyPr lIns="0" tIns="0" rIns="0" bIns="0" rtlCol="0" anchor="t">
            <a:spAutoFit/>
          </a:bodyPr>
          <a:lstStyle/>
          <a:p>
            <a:pPr algn="ctr">
              <a:lnSpc>
                <a:spcPts val="4642"/>
              </a:lnSpc>
            </a:pPr>
            <a:r>
              <a:rPr lang="en-US" sz="4072" b="1">
                <a:solidFill>
                  <a:srgbClr val="F0F0F0"/>
                </a:solidFill>
                <a:latin typeface="Calibri"/>
                <a:ea typeface="Agrandir Wide Bold"/>
                <a:cs typeface="Agrandir Wide Bold"/>
                <a:sym typeface="Agrandir Wide Bold"/>
              </a:rPr>
              <a:t> (ATTACKER CONTROL)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TextBox 2"/>
          <p:cNvSpPr txBox="1"/>
          <p:nvPr/>
        </p:nvSpPr>
        <p:spPr>
          <a:xfrm>
            <a:off x="2674912" y="111258"/>
            <a:ext cx="12697173" cy="1205656"/>
          </a:xfrm>
          <a:prstGeom prst="rect">
            <a:avLst/>
          </a:prstGeom>
        </p:spPr>
        <p:txBody>
          <a:bodyPr lIns="0" tIns="0" rIns="0" bIns="0" rtlCol="0" anchor="t">
            <a:spAutoFit/>
          </a:bodyPr>
          <a:lstStyle/>
          <a:p>
            <a:pPr algn="ctr">
              <a:lnSpc>
                <a:spcPts val="7948"/>
              </a:lnSpc>
            </a:pPr>
            <a:r>
              <a:rPr lang="en-US" sz="6972" b="1">
                <a:solidFill>
                  <a:srgbClr val="F0F0F0"/>
                </a:solidFill>
                <a:latin typeface="Calibri"/>
                <a:ea typeface="Agrandir Wide Bold"/>
                <a:cs typeface="Agrandir Wide Bold"/>
                <a:sym typeface="Agrandir Wide Bold"/>
              </a:rPr>
              <a:t>EVIDENCE 2</a:t>
            </a:r>
          </a:p>
        </p:txBody>
      </p:sp>
      <p:sp>
        <p:nvSpPr>
          <p:cNvPr id="3" name="Freeform 3"/>
          <p:cNvSpPr/>
          <p:nvPr/>
        </p:nvSpPr>
        <p:spPr>
          <a:xfrm rot="-10800000">
            <a:off x="41783" y="7818392"/>
            <a:ext cx="2495835" cy="2468608"/>
          </a:xfrm>
          <a:custGeom>
            <a:avLst/>
            <a:gdLst/>
            <a:ahLst/>
            <a:cxnLst/>
            <a:rect l="l" t="t" r="r" b="b"/>
            <a:pathLst>
              <a:path w="2495835" h="2468608">
                <a:moveTo>
                  <a:pt x="0" y="0"/>
                </a:moveTo>
                <a:lnTo>
                  <a:pt x="2495835" y="0"/>
                </a:lnTo>
                <a:lnTo>
                  <a:pt x="2495835" y="2468608"/>
                </a:lnTo>
                <a:lnTo>
                  <a:pt x="0" y="24686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15657975" y="114808"/>
            <a:ext cx="2496473" cy="2469239"/>
          </a:xfrm>
          <a:custGeom>
            <a:avLst/>
            <a:gdLst/>
            <a:ahLst/>
            <a:cxnLst/>
            <a:rect l="l" t="t" r="r" b="b"/>
            <a:pathLst>
              <a:path w="2496473" h="2469239">
                <a:moveTo>
                  <a:pt x="0" y="0"/>
                </a:moveTo>
                <a:lnTo>
                  <a:pt x="2496473" y="0"/>
                </a:lnTo>
                <a:lnTo>
                  <a:pt x="2496473" y="2469240"/>
                </a:lnTo>
                <a:lnTo>
                  <a:pt x="0" y="246924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5" name="Freeform 5"/>
          <p:cNvSpPr/>
          <p:nvPr/>
        </p:nvSpPr>
        <p:spPr>
          <a:xfrm>
            <a:off x="1745351" y="1563804"/>
            <a:ext cx="14955687" cy="7773226"/>
          </a:xfrm>
          <a:custGeom>
            <a:avLst/>
            <a:gdLst/>
            <a:ahLst/>
            <a:cxnLst/>
            <a:rect l="l" t="t" r="r" b="b"/>
            <a:pathLst>
              <a:path w="14955687" h="7773226">
                <a:moveTo>
                  <a:pt x="0" y="0"/>
                </a:moveTo>
                <a:lnTo>
                  <a:pt x="14955687" y="0"/>
                </a:lnTo>
                <a:lnTo>
                  <a:pt x="14955687" y="7773226"/>
                </a:lnTo>
                <a:lnTo>
                  <a:pt x="0" y="7773226"/>
                </a:lnTo>
                <a:lnTo>
                  <a:pt x="0" y="0"/>
                </a:lnTo>
                <a:close/>
              </a:path>
            </a:pathLst>
          </a:custGeom>
          <a:blipFill>
            <a:blip r:embed="rId4"/>
            <a:stretch>
              <a:fillRect t="-384" b="-384"/>
            </a:stretch>
          </a:blipFill>
        </p:spPr>
        <p:txBody>
          <a:bodyPr/>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pSp>
        <p:nvGrpSpPr>
          <p:cNvPr id="2" name="Group 2"/>
          <p:cNvGrpSpPr/>
          <p:nvPr/>
        </p:nvGrpSpPr>
        <p:grpSpPr>
          <a:xfrm>
            <a:off x="666920" y="4170017"/>
            <a:ext cx="4310172" cy="3152783"/>
            <a:chOff x="0" y="0"/>
            <a:chExt cx="5746896" cy="4203711"/>
          </a:xfrm>
        </p:grpSpPr>
        <p:sp>
          <p:nvSpPr>
            <p:cNvPr id="3" name="TextBox 3"/>
            <p:cNvSpPr txBox="1"/>
            <p:nvPr/>
          </p:nvSpPr>
          <p:spPr>
            <a:xfrm>
              <a:off x="1042201" y="-66675"/>
              <a:ext cx="3662494" cy="632249"/>
            </a:xfrm>
            <a:prstGeom prst="rect">
              <a:avLst/>
            </a:prstGeom>
          </p:spPr>
          <p:txBody>
            <a:bodyPr lIns="0" tIns="0" rIns="0" bIns="0" rtlCol="0" anchor="t">
              <a:spAutoFit/>
            </a:bodyPr>
            <a:lstStyle/>
            <a:p>
              <a:pPr algn="ctr">
                <a:lnSpc>
                  <a:spcPts val="3919"/>
                </a:lnSpc>
                <a:spcBef>
                  <a:spcPct val="0"/>
                </a:spcBef>
              </a:pPr>
              <a:r>
                <a:rPr lang="en-US" sz="2799" b="1">
                  <a:solidFill>
                    <a:srgbClr val="303870"/>
                  </a:solidFill>
                  <a:latin typeface="Open Sauce Bold"/>
                  <a:ea typeface="Open Sauce Bold"/>
                  <a:cs typeface="Open Sauce Bold"/>
                  <a:sym typeface="Open Sauce Bold"/>
                </a:rPr>
                <a:t>DID</a:t>
              </a:r>
            </a:p>
          </p:txBody>
        </p:sp>
        <p:sp>
          <p:nvSpPr>
            <p:cNvPr id="4" name="TextBox 4"/>
            <p:cNvSpPr txBox="1"/>
            <p:nvPr/>
          </p:nvSpPr>
          <p:spPr>
            <a:xfrm>
              <a:off x="0" y="1256930"/>
              <a:ext cx="5746896" cy="2946781"/>
            </a:xfrm>
            <a:prstGeom prst="rect">
              <a:avLst/>
            </a:prstGeom>
          </p:spPr>
          <p:txBody>
            <a:bodyPr lIns="0" tIns="0" rIns="0" bIns="0" rtlCol="0" anchor="t">
              <a:spAutoFit/>
            </a:bodyPr>
            <a:lstStyle/>
            <a:p>
              <a:pPr algn="l">
                <a:lnSpc>
                  <a:spcPts val="3528"/>
                </a:lnSpc>
                <a:spcBef>
                  <a:spcPct val="0"/>
                </a:spcBef>
              </a:pPr>
              <a:r>
                <a:rPr lang="en-US" sz="2520">
                  <a:solidFill>
                    <a:srgbClr val="303870"/>
                  </a:solidFill>
                  <a:latin typeface="Open Sauce"/>
                  <a:ea typeface="Open Sauce"/>
                  <a:cs typeface="Open Sauce"/>
                  <a:sym typeface="Open Sauce"/>
                </a:rPr>
                <a:t>The attacker tried many username and password combinations to break into the Raspberry Pi using Telnet</a:t>
              </a:r>
            </a:p>
          </p:txBody>
        </p:sp>
      </p:grpSp>
      <p:grpSp>
        <p:nvGrpSpPr>
          <p:cNvPr id="5" name="Group 5"/>
          <p:cNvGrpSpPr/>
          <p:nvPr/>
        </p:nvGrpSpPr>
        <p:grpSpPr>
          <a:xfrm>
            <a:off x="5255100" y="4139884"/>
            <a:ext cx="6867741" cy="3002443"/>
            <a:chOff x="0" y="0"/>
            <a:chExt cx="9156988" cy="4003257"/>
          </a:xfrm>
        </p:grpSpPr>
        <p:sp>
          <p:nvSpPr>
            <p:cNvPr id="6" name="TextBox 6"/>
            <p:cNvSpPr txBox="1"/>
            <p:nvPr/>
          </p:nvSpPr>
          <p:spPr>
            <a:xfrm>
              <a:off x="1660622" y="-66675"/>
              <a:ext cx="5835744" cy="632249"/>
            </a:xfrm>
            <a:prstGeom prst="rect">
              <a:avLst/>
            </a:prstGeom>
          </p:spPr>
          <p:txBody>
            <a:bodyPr lIns="0" tIns="0" rIns="0" bIns="0" rtlCol="0" anchor="t">
              <a:spAutoFit/>
            </a:bodyPr>
            <a:lstStyle/>
            <a:p>
              <a:pPr algn="ctr">
                <a:lnSpc>
                  <a:spcPts val="3919"/>
                </a:lnSpc>
                <a:spcBef>
                  <a:spcPct val="0"/>
                </a:spcBef>
              </a:pPr>
              <a:r>
                <a:rPr lang="en-US" sz="2799" b="1">
                  <a:solidFill>
                    <a:srgbClr val="303870"/>
                  </a:solidFill>
                  <a:latin typeface="Open Sauce Bold"/>
                  <a:ea typeface="Open Sauce Bold"/>
                  <a:cs typeface="Open Sauce Bold"/>
                  <a:sym typeface="Open Sauce Bold"/>
                </a:rPr>
                <a:t>FINDINGS</a:t>
              </a:r>
            </a:p>
          </p:txBody>
        </p:sp>
        <p:sp>
          <p:nvSpPr>
            <p:cNvPr id="7" name="TextBox 7"/>
            <p:cNvSpPr txBox="1"/>
            <p:nvPr/>
          </p:nvSpPr>
          <p:spPr>
            <a:xfrm>
              <a:off x="0" y="1189614"/>
              <a:ext cx="9156988" cy="2813643"/>
            </a:xfrm>
            <a:prstGeom prst="rect">
              <a:avLst/>
            </a:prstGeom>
          </p:spPr>
          <p:txBody>
            <a:bodyPr lIns="0" tIns="0" rIns="0" bIns="0" rtlCol="0" anchor="t">
              <a:spAutoFit/>
            </a:bodyPr>
            <a:lstStyle/>
            <a:p>
              <a:pPr algn="l">
                <a:lnSpc>
                  <a:spcPts val="3388"/>
                </a:lnSpc>
              </a:pPr>
              <a:r>
                <a:rPr lang="en-US" sz="2420">
                  <a:solidFill>
                    <a:srgbClr val="303870"/>
                  </a:solidFill>
                  <a:latin typeface="Open Sauce"/>
                  <a:ea typeface="Open Sauce"/>
                  <a:cs typeface="Open Sauce"/>
                  <a:sym typeface="Open Sauce"/>
                </a:rPr>
                <a:t>• Username: "root" → Password: "123456"</a:t>
              </a:r>
            </a:p>
            <a:p>
              <a:pPr algn="l">
                <a:lnSpc>
                  <a:spcPts val="3388"/>
                </a:lnSpc>
              </a:pPr>
              <a:r>
                <a:rPr lang="en-US" sz="2420">
                  <a:solidFill>
                    <a:srgbClr val="303870"/>
                  </a:solidFill>
                  <a:latin typeface="Open Sauce"/>
                  <a:ea typeface="Open Sauce"/>
                  <a:cs typeface="Open Sauce"/>
                  <a:sym typeface="Open Sauce"/>
                </a:rPr>
                <a:t>• Username: "enable" → Password: "system"</a:t>
              </a:r>
            </a:p>
            <a:p>
              <a:pPr algn="l">
                <a:lnSpc>
                  <a:spcPts val="3388"/>
                </a:lnSpc>
              </a:pPr>
              <a:r>
                <a:rPr lang="en-US" sz="2420">
                  <a:solidFill>
                    <a:srgbClr val="303870"/>
                  </a:solidFill>
                  <a:latin typeface="Open Sauce"/>
                  <a:ea typeface="Open Sauce"/>
                  <a:cs typeface="Open Sauce"/>
                  <a:sym typeface="Open Sauce"/>
                </a:rPr>
                <a:t>• Result: "Bad username/Password" repeatedly</a:t>
              </a:r>
            </a:p>
            <a:p>
              <a:pPr algn="l">
                <a:lnSpc>
                  <a:spcPts val="3388"/>
                </a:lnSpc>
                <a:spcBef>
                  <a:spcPct val="0"/>
                </a:spcBef>
              </a:pPr>
              <a:r>
                <a:rPr lang="en-US" sz="2420">
                  <a:solidFill>
                    <a:srgbClr val="303870"/>
                  </a:solidFill>
                  <a:latin typeface="Open Sauce"/>
                  <a:ea typeface="Open Sauce"/>
                  <a:cs typeface="Open Sauce"/>
                  <a:sym typeface="Open Sauce"/>
                </a:rPr>
                <a:t>• This is called a dictionary attack</a:t>
              </a:r>
            </a:p>
          </p:txBody>
        </p:sp>
      </p:grpSp>
      <p:grpSp>
        <p:nvGrpSpPr>
          <p:cNvPr id="8" name="Group 8"/>
          <p:cNvGrpSpPr/>
          <p:nvPr/>
        </p:nvGrpSpPr>
        <p:grpSpPr>
          <a:xfrm>
            <a:off x="12204364" y="4139939"/>
            <a:ext cx="5338872" cy="3914303"/>
            <a:chOff x="0" y="0"/>
            <a:chExt cx="7118496" cy="5219070"/>
          </a:xfrm>
        </p:grpSpPr>
        <p:sp>
          <p:nvSpPr>
            <p:cNvPr id="9" name="TextBox 9"/>
            <p:cNvSpPr txBox="1"/>
            <p:nvPr/>
          </p:nvSpPr>
          <p:spPr>
            <a:xfrm>
              <a:off x="1030257" y="-66675"/>
              <a:ext cx="5057983" cy="632249"/>
            </a:xfrm>
            <a:prstGeom prst="rect">
              <a:avLst/>
            </a:prstGeom>
          </p:spPr>
          <p:txBody>
            <a:bodyPr lIns="0" tIns="0" rIns="0" bIns="0" rtlCol="0" anchor="t">
              <a:spAutoFit/>
            </a:bodyPr>
            <a:lstStyle/>
            <a:p>
              <a:pPr algn="ctr">
                <a:lnSpc>
                  <a:spcPts val="3919"/>
                </a:lnSpc>
                <a:spcBef>
                  <a:spcPct val="0"/>
                </a:spcBef>
              </a:pPr>
              <a:r>
                <a:rPr lang="en-US" sz="2799" b="1">
                  <a:solidFill>
                    <a:srgbClr val="303870"/>
                  </a:solidFill>
                  <a:latin typeface="Open Sauce Bold"/>
                  <a:ea typeface="Open Sauce Bold"/>
                  <a:cs typeface="Open Sauce Bold"/>
                  <a:sym typeface="Open Sauce Bold"/>
                </a:rPr>
                <a:t>WHY IS IT CRITICAL</a:t>
              </a:r>
            </a:p>
          </p:txBody>
        </p:sp>
        <p:sp>
          <p:nvSpPr>
            <p:cNvPr id="10" name="TextBox 10"/>
            <p:cNvSpPr txBox="1"/>
            <p:nvPr/>
          </p:nvSpPr>
          <p:spPr>
            <a:xfrm>
              <a:off x="0" y="1078489"/>
              <a:ext cx="7118496" cy="4140581"/>
            </a:xfrm>
            <a:prstGeom prst="rect">
              <a:avLst/>
            </a:prstGeom>
          </p:spPr>
          <p:txBody>
            <a:bodyPr lIns="0" tIns="0" rIns="0" bIns="0" rtlCol="0" anchor="t">
              <a:spAutoFit/>
            </a:bodyPr>
            <a:lstStyle/>
            <a:p>
              <a:pPr algn="just">
                <a:lnSpc>
                  <a:spcPts val="3528"/>
                </a:lnSpc>
                <a:spcBef>
                  <a:spcPct val="0"/>
                </a:spcBef>
              </a:pPr>
              <a:r>
                <a:rPr lang="en-US" sz="2520">
                  <a:solidFill>
                    <a:srgbClr val="303870"/>
                  </a:solidFill>
                  <a:latin typeface="Open Sauce"/>
                  <a:ea typeface="Open Sauce"/>
                  <a:cs typeface="Open Sauce"/>
                  <a:sym typeface="Open Sauce"/>
                </a:rPr>
                <a:t>This is why the attack happened. The device was using default passwords (like root:123456). If the owner had changed the password, the attacker could never get in. This was 100% preventable.</a:t>
              </a:r>
            </a:p>
          </p:txBody>
        </p:sp>
      </p:grpSp>
      <p:sp>
        <p:nvSpPr>
          <p:cNvPr id="11" name="TextBox 11"/>
          <p:cNvSpPr txBox="1"/>
          <p:nvPr/>
        </p:nvSpPr>
        <p:spPr>
          <a:xfrm>
            <a:off x="2795414" y="885825"/>
            <a:ext cx="12697173" cy="2307536"/>
          </a:xfrm>
          <a:prstGeom prst="rect">
            <a:avLst/>
          </a:prstGeom>
        </p:spPr>
        <p:txBody>
          <a:bodyPr lIns="0" tIns="0" rIns="0" bIns="0" rtlCol="0" anchor="t">
            <a:spAutoFit/>
          </a:bodyPr>
          <a:lstStyle/>
          <a:p>
            <a:pPr algn="ctr">
              <a:lnSpc>
                <a:spcPts val="7492"/>
              </a:lnSpc>
            </a:pPr>
            <a:r>
              <a:rPr lang="en-US" sz="6572" b="1">
                <a:solidFill>
                  <a:srgbClr val="F0F0F0"/>
                </a:solidFill>
                <a:latin typeface="Calibri"/>
                <a:ea typeface="Agrandir Wide Bold"/>
                <a:cs typeface="Agrandir Wide Bold"/>
                <a:sym typeface="Agrandir Wide Bold"/>
              </a:rPr>
              <a:t>BRUTE FORCE </a:t>
            </a:r>
          </a:p>
          <a:p>
            <a:pPr algn="ctr">
              <a:lnSpc>
                <a:spcPts val="4651"/>
              </a:lnSpc>
            </a:pPr>
            <a:r>
              <a:rPr lang="en-US" sz="4079" b="1">
                <a:solidFill>
                  <a:srgbClr val="F0F0F0"/>
                </a:solidFill>
                <a:latin typeface="Calibri"/>
                <a:ea typeface="Agrandir Wide Bold"/>
                <a:cs typeface="Agrandir Wide Bold"/>
                <a:sym typeface="Agrandir Wide Bold"/>
              </a:rPr>
              <a:t>LOGIN ATTEMPTS</a:t>
            </a:r>
          </a:p>
          <a:p>
            <a:pPr algn="ctr">
              <a:lnSpc>
                <a:spcPts val="4651"/>
              </a:lnSpc>
            </a:pPr>
            <a:endParaRPr lang="en-US" sz="4079" b="1">
              <a:solidFill>
                <a:srgbClr val="F0F0F0"/>
              </a:solidFill>
              <a:latin typeface="Calibri"/>
              <a:ea typeface="Agrandir Wide Bold"/>
              <a:cs typeface="Agrandir Wide Bold"/>
              <a:sym typeface="Agrandir Wide Bold"/>
            </a:endParaRPr>
          </a:p>
        </p:txBody>
      </p:sp>
      <p:grpSp>
        <p:nvGrpSpPr>
          <p:cNvPr id="12" name="Group 12"/>
          <p:cNvGrpSpPr/>
          <p:nvPr/>
        </p:nvGrpSpPr>
        <p:grpSpPr>
          <a:xfrm>
            <a:off x="17745075" y="0"/>
            <a:ext cx="3086100" cy="10287000"/>
            <a:chOff x="0" y="0"/>
            <a:chExt cx="812800" cy="2709333"/>
          </a:xfrm>
        </p:grpSpPr>
        <p:sp>
          <p:nvSpPr>
            <p:cNvPr id="13" name="Freeform 13"/>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14" name="TextBox 14"/>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grpSp>
        <p:nvGrpSpPr>
          <p:cNvPr id="15" name="Group 15"/>
          <p:cNvGrpSpPr/>
          <p:nvPr/>
        </p:nvGrpSpPr>
        <p:grpSpPr>
          <a:xfrm>
            <a:off x="7115633" y="4041806"/>
            <a:ext cx="3146674" cy="737685"/>
            <a:chOff x="0" y="0"/>
            <a:chExt cx="828754" cy="194287"/>
          </a:xfrm>
        </p:grpSpPr>
        <p:sp>
          <p:nvSpPr>
            <p:cNvPr id="16" name="Freeform 16"/>
            <p:cNvSpPr/>
            <p:nvPr/>
          </p:nvSpPr>
          <p:spPr>
            <a:xfrm>
              <a:off x="0" y="0"/>
              <a:ext cx="828754" cy="194287"/>
            </a:xfrm>
            <a:custGeom>
              <a:avLst/>
              <a:gdLst/>
              <a:ahLst/>
              <a:cxnLst/>
              <a:rect l="l" t="t" r="r" b="b"/>
              <a:pathLst>
                <a:path w="828754" h="194287">
                  <a:moveTo>
                    <a:pt x="97144" y="0"/>
                  </a:moveTo>
                  <a:lnTo>
                    <a:pt x="731610" y="0"/>
                  </a:lnTo>
                  <a:cubicBezTo>
                    <a:pt x="785261" y="0"/>
                    <a:pt x="828754" y="43493"/>
                    <a:pt x="828754" y="97144"/>
                  </a:cubicBezTo>
                  <a:lnTo>
                    <a:pt x="828754" y="97144"/>
                  </a:lnTo>
                  <a:cubicBezTo>
                    <a:pt x="828754" y="150795"/>
                    <a:pt x="785261" y="194287"/>
                    <a:pt x="731610" y="194287"/>
                  </a:cubicBezTo>
                  <a:lnTo>
                    <a:pt x="97144" y="194287"/>
                  </a:lnTo>
                  <a:cubicBezTo>
                    <a:pt x="43493" y="194287"/>
                    <a:pt x="0" y="150795"/>
                    <a:pt x="0" y="97144"/>
                  </a:cubicBezTo>
                  <a:lnTo>
                    <a:pt x="0" y="97144"/>
                  </a:lnTo>
                  <a:cubicBezTo>
                    <a:pt x="0" y="43493"/>
                    <a:pt x="43493" y="0"/>
                    <a:pt x="97144" y="0"/>
                  </a:cubicBezTo>
                  <a:close/>
                </a:path>
              </a:pathLst>
            </a:custGeom>
            <a:ln w="38100" cap="rnd">
              <a:solidFill>
                <a:srgbClr val="303870"/>
              </a:solidFill>
              <a:prstDash val="solid"/>
              <a:round/>
            </a:ln>
          </p:spPr>
        </p:sp>
        <p:sp>
          <p:nvSpPr>
            <p:cNvPr id="17" name="TextBox 17"/>
            <p:cNvSpPr txBox="1"/>
            <p:nvPr/>
          </p:nvSpPr>
          <p:spPr>
            <a:xfrm>
              <a:off x="0" y="-95250"/>
              <a:ext cx="828754" cy="289537"/>
            </a:xfrm>
            <a:prstGeom prst="rect">
              <a:avLst/>
            </a:prstGeom>
          </p:spPr>
          <p:txBody>
            <a:bodyPr lIns="50800" tIns="50800" rIns="50800" bIns="50800" rtlCol="0" anchor="ctr"/>
            <a:lstStyle/>
            <a:p>
              <a:pPr algn="ctr">
                <a:lnSpc>
                  <a:spcPts val="3287"/>
                </a:lnSpc>
              </a:pPr>
              <a:endParaRPr/>
            </a:p>
          </p:txBody>
        </p:sp>
      </p:grpSp>
      <p:grpSp>
        <p:nvGrpSpPr>
          <p:cNvPr id="18" name="Group 18"/>
          <p:cNvGrpSpPr/>
          <p:nvPr/>
        </p:nvGrpSpPr>
        <p:grpSpPr>
          <a:xfrm>
            <a:off x="1599002" y="4041806"/>
            <a:ext cx="2446008" cy="737685"/>
            <a:chOff x="0" y="0"/>
            <a:chExt cx="644216" cy="194287"/>
          </a:xfrm>
        </p:grpSpPr>
        <p:sp>
          <p:nvSpPr>
            <p:cNvPr id="19" name="Freeform 19"/>
            <p:cNvSpPr/>
            <p:nvPr/>
          </p:nvSpPr>
          <p:spPr>
            <a:xfrm>
              <a:off x="0" y="0"/>
              <a:ext cx="644216" cy="194287"/>
            </a:xfrm>
            <a:custGeom>
              <a:avLst/>
              <a:gdLst/>
              <a:ahLst/>
              <a:cxnLst/>
              <a:rect l="l" t="t" r="r" b="b"/>
              <a:pathLst>
                <a:path w="644216" h="194287">
                  <a:moveTo>
                    <a:pt x="97144" y="0"/>
                  </a:moveTo>
                  <a:lnTo>
                    <a:pt x="547072" y="0"/>
                  </a:lnTo>
                  <a:cubicBezTo>
                    <a:pt x="600723" y="0"/>
                    <a:pt x="644216" y="43493"/>
                    <a:pt x="644216" y="97144"/>
                  </a:cubicBezTo>
                  <a:lnTo>
                    <a:pt x="644216" y="97144"/>
                  </a:lnTo>
                  <a:cubicBezTo>
                    <a:pt x="644216" y="150795"/>
                    <a:pt x="600723" y="194287"/>
                    <a:pt x="547072" y="194287"/>
                  </a:cubicBezTo>
                  <a:lnTo>
                    <a:pt x="97144" y="194287"/>
                  </a:lnTo>
                  <a:cubicBezTo>
                    <a:pt x="43493" y="194287"/>
                    <a:pt x="0" y="150795"/>
                    <a:pt x="0" y="97144"/>
                  </a:cubicBezTo>
                  <a:lnTo>
                    <a:pt x="0" y="97144"/>
                  </a:lnTo>
                  <a:cubicBezTo>
                    <a:pt x="0" y="43493"/>
                    <a:pt x="43493" y="0"/>
                    <a:pt x="97144" y="0"/>
                  </a:cubicBezTo>
                  <a:close/>
                </a:path>
              </a:pathLst>
            </a:custGeom>
            <a:ln w="38100" cap="rnd">
              <a:solidFill>
                <a:srgbClr val="303870"/>
              </a:solidFill>
              <a:prstDash val="solid"/>
              <a:round/>
            </a:ln>
          </p:spPr>
        </p:sp>
        <p:sp>
          <p:nvSpPr>
            <p:cNvPr id="20" name="TextBox 20"/>
            <p:cNvSpPr txBox="1"/>
            <p:nvPr/>
          </p:nvSpPr>
          <p:spPr>
            <a:xfrm>
              <a:off x="0" y="-95250"/>
              <a:ext cx="644216" cy="289537"/>
            </a:xfrm>
            <a:prstGeom prst="rect">
              <a:avLst/>
            </a:prstGeom>
          </p:spPr>
          <p:txBody>
            <a:bodyPr lIns="50800" tIns="50800" rIns="50800" bIns="50800" rtlCol="0" anchor="ctr"/>
            <a:lstStyle/>
            <a:p>
              <a:pPr algn="ctr">
                <a:lnSpc>
                  <a:spcPts val="3287"/>
                </a:lnSpc>
              </a:pPr>
              <a:endParaRPr/>
            </a:p>
          </p:txBody>
        </p:sp>
      </p:grpSp>
      <p:grpSp>
        <p:nvGrpSpPr>
          <p:cNvPr id="21" name="Group 21"/>
          <p:cNvGrpSpPr/>
          <p:nvPr/>
        </p:nvGrpSpPr>
        <p:grpSpPr>
          <a:xfrm>
            <a:off x="12399066" y="4041806"/>
            <a:ext cx="4828946" cy="737685"/>
            <a:chOff x="0" y="0"/>
            <a:chExt cx="1271821" cy="194287"/>
          </a:xfrm>
        </p:grpSpPr>
        <p:sp>
          <p:nvSpPr>
            <p:cNvPr id="22" name="Freeform 22"/>
            <p:cNvSpPr/>
            <p:nvPr/>
          </p:nvSpPr>
          <p:spPr>
            <a:xfrm>
              <a:off x="0" y="0"/>
              <a:ext cx="1271821" cy="194287"/>
            </a:xfrm>
            <a:custGeom>
              <a:avLst/>
              <a:gdLst/>
              <a:ahLst/>
              <a:cxnLst/>
              <a:rect l="l" t="t" r="r" b="b"/>
              <a:pathLst>
                <a:path w="1271821" h="194287">
                  <a:moveTo>
                    <a:pt x="97144" y="0"/>
                  </a:moveTo>
                  <a:lnTo>
                    <a:pt x="1174677" y="0"/>
                  </a:lnTo>
                  <a:cubicBezTo>
                    <a:pt x="1228328" y="0"/>
                    <a:pt x="1271821" y="43493"/>
                    <a:pt x="1271821" y="97144"/>
                  </a:cubicBezTo>
                  <a:lnTo>
                    <a:pt x="1271821" y="97144"/>
                  </a:lnTo>
                  <a:cubicBezTo>
                    <a:pt x="1271821" y="150795"/>
                    <a:pt x="1228328" y="194287"/>
                    <a:pt x="1174677" y="194287"/>
                  </a:cubicBezTo>
                  <a:lnTo>
                    <a:pt x="97144" y="194287"/>
                  </a:lnTo>
                  <a:cubicBezTo>
                    <a:pt x="43493" y="194287"/>
                    <a:pt x="0" y="150795"/>
                    <a:pt x="0" y="97144"/>
                  </a:cubicBezTo>
                  <a:lnTo>
                    <a:pt x="0" y="97144"/>
                  </a:lnTo>
                  <a:cubicBezTo>
                    <a:pt x="0" y="43493"/>
                    <a:pt x="43493" y="0"/>
                    <a:pt x="97144" y="0"/>
                  </a:cubicBezTo>
                  <a:close/>
                </a:path>
              </a:pathLst>
            </a:custGeom>
            <a:ln w="38100" cap="rnd">
              <a:solidFill>
                <a:srgbClr val="303870"/>
              </a:solidFill>
              <a:prstDash val="solid"/>
              <a:round/>
            </a:ln>
          </p:spPr>
        </p:sp>
        <p:sp>
          <p:nvSpPr>
            <p:cNvPr id="23" name="TextBox 23"/>
            <p:cNvSpPr txBox="1"/>
            <p:nvPr/>
          </p:nvSpPr>
          <p:spPr>
            <a:xfrm>
              <a:off x="0" y="-95250"/>
              <a:ext cx="1271821" cy="289537"/>
            </a:xfrm>
            <a:prstGeom prst="rect">
              <a:avLst/>
            </a:prstGeom>
          </p:spPr>
          <p:txBody>
            <a:bodyPr lIns="50800" tIns="50800" rIns="50800" bIns="50800" rtlCol="0" anchor="ctr"/>
            <a:lstStyle/>
            <a:p>
              <a:pPr algn="ctr">
                <a:lnSpc>
                  <a:spcPts val="3287"/>
                </a:lnSpc>
              </a:pP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TextBox 2"/>
          <p:cNvSpPr txBox="1"/>
          <p:nvPr/>
        </p:nvSpPr>
        <p:spPr>
          <a:xfrm>
            <a:off x="2179916" y="-3162"/>
            <a:ext cx="12697173" cy="1364957"/>
          </a:xfrm>
          <a:prstGeom prst="rect">
            <a:avLst/>
          </a:prstGeom>
        </p:spPr>
        <p:txBody>
          <a:bodyPr lIns="0" tIns="0" rIns="0" bIns="0" rtlCol="0" anchor="t">
            <a:spAutoFit/>
          </a:bodyPr>
          <a:lstStyle/>
          <a:p>
            <a:pPr algn="ctr">
              <a:lnSpc>
                <a:spcPts val="8974"/>
              </a:lnSpc>
            </a:pPr>
            <a:r>
              <a:rPr lang="en-US" sz="7872" b="1">
                <a:solidFill>
                  <a:srgbClr val="F0F0F0"/>
                </a:solidFill>
                <a:latin typeface="Calibri"/>
                <a:ea typeface="Agrandir Wide Bold"/>
                <a:cs typeface="Agrandir Wide Bold"/>
                <a:sym typeface="Agrandir Wide Bold"/>
              </a:rPr>
              <a:t>EVIDENCE 3</a:t>
            </a:r>
          </a:p>
        </p:txBody>
      </p:sp>
      <p:sp>
        <p:nvSpPr>
          <p:cNvPr id="3" name="Freeform 3"/>
          <p:cNvSpPr/>
          <p:nvPr/>
        </p:nvSpPr>
        <p:spPr>
          <a:xfrm rot="-10800000">
            <a:off x="0" y="7563409"/>
            <a:ext cx="2753631" cy="2723591"/>
          </a:xfrm>
          <a:custGeom>
            <a:avLst/>
            <a:gdLst/>
            <a:ahLst/>
            <a:cxnLst/>
            <a:rect l="l" t="t" r="r" b="b"/>
            <a:pathLst>
              <a:path w="2753631" h="2723591">
                <a:moveTo>
                  <a:pt x="0" y="0"/>
                </a:moveTo>
                <a:lnTo>
                  <a:pt x="2753631" y="0"/>
                </a:lnTo>
                <a:lnTo>
                  <a:pt x="2753631" y="2723591"/>
                </a:lnTo>
                <a:lnTo>
                  <a:pt x="0" y="2723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15415306" y="0"/>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5" name="Freeform 5"/>
          <p:cNvSpPr/>
          <p:nvPr/>
        </p:nvSpPr>
        <p:spPr>
          <a:xfrm>
            <a:off x="2233093" y="1508326"/>
            <a:ext cx="12590818" cy="8010908"/>
          </a:xfrm>
          <a:custGeom>
            <a:avLst/>
            <a:gdLst/>
            <a:ahLst/>
            <a:cxnLst/>
            <a:rect l="l" t="t" r="r" b="b"/>
            <a:pathLst>
              <a:path w="12590818" h="8010908">
                <a:moveTo>
                  <a:pt x="0" y="0"/>
                </a:moveTo>
                <a:lnTo>
                  <a:pt x="12590818" y="0"/>
                </a:lnTo>
                <a:lnTo>
                  <a:pt x="12590818" y="8010909"/>
                </a:lnTo>
                <a:lnTo>
                  <a:pt x="0" y="8010909"/>
                </a:lnTo>
                <a:lnTo>
                  <a:pt x="0" y="0"/>
                </a:lnTo>
                <a:close/>
              </a:path>
            </a:pathLst>
          </a:custGeom>
          <a:blipFill>
            <a:blip r:embed="rId4"/>
            <a:stretch>
              <a:fillRect/>
            </a:stretch>
          </a:blipFill>
        </p:spPr>
        <p:txBody>
          <a:bodyPr/>
          <a:lstStyle/>
          <a:p>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1324363" y="1718826"/>
          <a:ext cx="15934937" cy="8162925"/>
        </p:xfrm>
        <a:graphic>
          <a:graphicData uri="http://schemas.openxmlformats.org/drawingml/2006/table">
            <a:tbl>
              <a:tblPr/>
              <a:tblGrid>
                <a:gridCol w="4954008">
                  <a:extLst>
                    <a:ext uri="{9D8B030D-6E8A-4147-A177-3AD203B41FA5}">
                      <a16:colId xmlns:a16="http://schemas.microsoft.com/office/drawing/2014/main" val="20000"/>
                    </a:ext>
                  </a:extLst>
                </a:gridCol>
                <a:gridCol w="5490464">
                  <a:extLst>
                    <a:ext uri="{9D8B030D-6E8A-4147-A177-3AD203B41FA5}">
                      <a16:colId xmlns:a16="http://schemas.microsoft.com/office/drawing/2014/main" val="20001"/>
                    </a:ext>
                  </a:extLst>
                </a:gridCol>
                <a:gridCol w="5490464">
                  <a:extLst>
                    <a:ext uri="{9D8B030D-6E8A-4147-A177-3AD203B41FA5}">
                      <a16:colId xmlns:a16="http://schemas.microsoft.com/office/drawing/2014/main" val="20002"/>
                    </a:ext>
                  </a:extLst>
                </a:gridCol>
              </a:tblGrid>
              <a:tr h="849708">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IOC TYPE</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303870"/>
                    </a:solidFill>
                  </a:tcPr>
                </a:tc>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VALUE</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303870"/>
                    </a:solidFill>
                  </a:tcPr>
                </a:tc>
                <a:tc>
                  <a:txBody>
                    <a:bodyPr/>
                    <a:lstStyle/>
                    <a:p>
                      <a:pPr algn="ctr">
                        <a:lnSpc>
                          <a:spcPts val="3359"/>
                        </a:lnSpc>
                        <a:defRPr/>
                      </a:pPr>
                      <a:r>
                        <a:rPr lang="en-US" sz="2400" b="1">
                          <a:solidFill>
                            <a:srgbClr val="FFFFFF"/>
                          </a:solidFill>
                          <a:latin typeface="Open Sauce Bold"/>
                          <a:ea typeface="Open Sauce Bold"/>
                          <a:cs typeface="Open Sauce Bold"/>
                          <a:sym typeface="Open Sauce Bold"/>
                        </a:rPr>
                        <a:t>SIGNIFICANCE</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303870"/>
                    </a:solidFill>
                  </a:tcPr>
                </a:tc>
                <a:extLst>
                  <a:ext uri="{0D108BD9-81ED-4DB2-BD59-A6C34878D82A}">
                    <a16:rowId xmlns:a16="http://schemas.microsoft.com/office/drawing/2014/main" val="10000"/>
                  </a:ext>
                </a:extLst>
              </a:tr>
              <a:tr h="1164768">
                <a:tc>
                  <a:txBody>
                    <a:bodyPr/>
                    <a:lstStyle/>
                    <a:p>
                      <a:pPr algn="ctr">
                        <a:lnSpc>
                          <a:spcPts val="2940"/>
                        </a:lnSpc>
                        <a:defRPr/>
                      </a:pPr>
                      <a:r>
                        <a:rPr lang="en-US" sz="2100" b="1">
                          <a:solidFill>
                            <a:srgbClr val="1C191A"/>
                          </a:solidFill>
                          <a:latin typeface="Open Sauce Bold"/>
                          <a:ea typeface="Open Sauce Bold"/>
                          <a:cs typeface="Open Sauce Bold"/>
                          <a:sym typeface="Open Sauce Bold"/>
                        </a:rPr>
                        <a:t>Infected Device IP</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192.168.100.103</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Victim smart IoT device (Raspberry Pi) generating malicious outbound traffic.</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64768">
                <a:tc>
                  <a:txBody>
                    <a:bodyPr/>
                    <a:lstStyle/>
                    <a:p>
                      <a:pPr algn="ctr">
                        <a:lnSpc>
                          <a:spcPts val="2940"/>
                        </a:lnSpc>
                        <a:defRPr/>
                      </a:pPr>
                      <a:r>
                        <a:rPr lang="en-US" sz="2100" b="1">
                          <a:solidFill>
                            <a:srgbClr val="1C191A"/>
                          </a:solidFill>
                          <a:latin typeface="Open Sauce Bold"/>
                          <a:ea typeface="Open Sauce Bold"/>
                          <a:cs typeface="Open Sauce Bold"/>
                          <a:sym typeface="Open Sauce Bold"/>
                        </a:rPr>
                        <a:t>Infected Device MAC</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b8:27:eb:c7:e9:c9</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Physical hardware address associated with the compromised Raspberry Pi.</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37112">
                <a:tc>
                  <a:txBody>
                    <a:bodyPr/>
                    <a:lstStyle/>
                    <a:p>
                      <a:pPr algn="ctr">
                        <a:lnSpc>
                          <a:spcPts val="2940"/>
                        </a:lnSpc>
                        <a:defRPr/>
                      </a:pPr>
                      <a:r>
                        <a:rPr lang="en-US" sz="2100" b="1">
                          <a:solidFill>
                            <a:srgbClr val="1C191A"/>
                          </a:solidFill>
                          <a:latin typeface="Open Sauce Bold"/>
                          <a:ea typeface="Open Sauce Bold"/>
                          <a:cs typeface="Open Sauce Bold"/>
                          <a:sym typeface="Open Sauce Bold"/>
                        </a:rPr>
                        <a:t>Primary C2 Server IP</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219.243.27.65</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Active external Command &amp; Control node interacting with the victim via Telnet.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537112">
                <a:tc>
                  <a:txBody>
                    <a:bodyPr/>
                    <a:lstStyle/>
                    <a:p>
                      <a:pPr algn="ctr">
                        <a:lnSpc>
                          <a:spcPts val="2940"/>
                        </a:lnSpc>
                        <a:defRPr/>
                      </a:pPr>
                      <a:r>
                        <a:rPr lang="en-US" sz="2100" b="1">
                          <a:solidFill>
                            <a:srgbClr val="1C191A"/>
                          </a:solidFill>
                          <a:latin typeface="Open Sauce Bold"/>
                          <a:ea typeface="Open Sauce Bold"/>
                          <a:cs typeface="Open Sauce Bold"/>
                          <a:sym typeface="Open Sauce Bold"/>
                        </a:rPr>
                        <a:t>Secondary Threat IP</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71.181.6.40</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Additional external host observed in concurrent unencrypted communication paths.</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909456">
                <a:tc>
                  <a:txBody>
                    <a:bodyPr/>
                    <a:lstStyle/>
                    <a:p>
                      <a:pPr algn="ctr">
                        <a:lnSpc>
                          <a:spcPts val="3079"/>
                        </a:lnSpc>
                        <a:defRPr/>
                      </a:pPr>
                      <a:r>
                        <a:rPr lang="en-US" sz="2199" b="1">
                          <a:solidFill>
                            <a:srgbClr val="1C191A"/>
                          </a:solidFill>
                          <a:latin typeface="Arimo Bold"/>
                          <a:ea typeface="Arimo Bold"/>
                          <a:cs typeface="Arimo Bold"/>
                          <a:sym typeface="Arimo Bold"/>
                        </a:rPr>
                        <a:t>Target Protocol / Port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TCP Port 23 (Telnet)</a:t>
                      </a:r>
                      <a:endParaRPr lang="en-US" sz="1100"/>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1C191A"/>
                          </a:solidFill>
                          <a:latin typeface="Open Sauce"/>
                          <a:ea typeface="Open Sauce"/>
                          <a:cs typeface="Open Sauce"/>
                          <a:sym typeface="Open Sauce"/>
                        </a:rPr>
                        <a:t>TCP Port 23 (Telnet)</a:t>
                      </a:r>
                      <a:endParaRPr lang="en-US" sz="1100"/>
                    </a:p>
                    <a:p>
                      <a:pPr algn="ctr">
                        <a:lnSpc>
                          <a:spcPts val="2940"/>
                        </a:lnSpc>
                      </a:pPr>
                      <a:r>
                        <a:rPr lang="en-US" sz="2100">
                          <a:solidFill>
                            <a:srgbClr val="1C191A"/>
                          </a:solidFill>
                          <a:latin typeface="Open Sauce"/>
                          <a:ea typeface="Open Sauce"/>
                          <a:cs typeface="Open Sauce"/>
                          <a:sym typeface="Open Sauce"/>
                        </a:rPr>
                        <a:t>Unsecured vector exploited for password dictionary attacks.</a:t>
                      </a:r>
                    </a:p>
                    <a:p>
                      <a:pPr algn="ctr">
                        <a:lnSpc>
                          <a:spcPts val="2940"/>
                        </a:lnSpc>
                      </a:pPr>
                      <a:endParaRPr lang="en-US" sz="2100">
                        <a:solidFill>
                          <a:srgbClr val="1C191A"/>
                        </a:solidFill>
                        <a:latin typeface="Open Sauce"/>
                        <a:ea typeface="Open Sauce"/>
                        <a:cs typeface="Open Sauce"/>
                        <a:sym typeface="Open Sauce"/>
                      </a:endParaRPr>
                    </a:p>
                  </a:txBody>
                  <a:tcPr marL="190500" marR="190500" marT="190500" marB="1905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extBox 3"/>
          <p:cNvSpPr txBox="1"/>
          <p:nvPr/>
        </p:nvSpPr>
        <p:spPr>
          <a:xfrm>
            <a:off x="3944416" y="228895"/>
            <a:ext cx="10399168" cy="1285284"/>
          </a:xfrm>
          <a:prstGeom prst="rect">
            <a:avLst/>
          </a:prstGeom>
        </p:spPr>
        <p:txBody>
          <a:bodyPr lIns="0" tIns="0" rIns="0" bIns="0" rtlCol="0" anchor="t">
            <a:spAutoFit/>
          </a:bodyPr>
          <a:lstStyle/>
          <a:p>
            <a:r>
              <a:t>INDICATORS OF COMPROMISE (IOCs)</a:t>
            </a:r>
          </a:p>
        </p:txBody>
      </p:sp>
      <p:sp>
        <p:nvSpPr>
          <p:cNvPr id="4" name="TextBox 4"/>
          <p:cNvSpPr txBox="1"/>
          <p:nvPr/>
        </p:nvSpPr>
        <p:spPr>
          <a:xfrm>
            <a:off x="13671125" y="9142095"/>
            <a:ext cx="3450476" cy="273685"/>
          </a:xfrm>
          <a:prstGeom prst="rect">
            <a:avLst/>
          </a:prstGeom>
        </p:spPr>
        <p:txBody>
          <a:bodyPr lIns="0" tIns="0" rIns="0" bIns="0" rtlCol="0" anchor="t">
            <a:spAutoFit/>
          </a:bodyPr>
          <a:lstStyle/>
          <a:p>
            <a:pPr marL="0" lvl="0" indent="0" algn="r">
              <a:lnSpc>
                <a:spcPts val="2239"/>
              </a:lnSpc>
              <a:spcBef>
                <a:spcPct val="0"/>
              </a:spcBef>
            </a:pPr>
            <a:r>
              <a:rPr lang="en-US" sz="1599" spc="159">
                <a:solidFill>
                  <a:srgbClr val="F0F0F0">
                    <a:alpha val="49804"/>
                  </a:srgbClr>
                </a:solidFill>
                <a:latin typeface="Calibri"/>
                <a:ea typeface="Open Sauce"/>
                <a:cs typeface="Open Sauce"/>
                <a:sym typeface="Open Sauce"/>
              </a:rPr>
              <a:t>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4514850" y="2334866"/>
          <a:ext cx="9258300" cy="7243902"/>
        </p:xfrm>
        <a:graphic>
          <a:graphicData uri="http://schemas.openxmlformats.org/drawingml/2006/table">
            <a:tbl>
              <a:tblPr/>
              <a:tblGrid>
                <a:gridCol w="3015087">
                  <a:extLst>
                    <a:ext uri="{9D8B030D-6E8A-4147-A177-3AD203B41FA5}">
                      <a16:colId xmlns:a16="http://schemas.microsoft.com/office/drawing/2014/main" val="20000"/>
                    </a:ext>
                  </a:extLst>
                </a:gridCol>
                <a:gridCol w="6243213">
                  <a:extLst>
                    <a:ext uri="{9D8B030D-6E8A-4147-A177-3AD203B41FA5}">
                      <a16:colId xmlns:a16="http://schemas.microsoft.com/office/drawing/2014/main" val="20001"/>
                    </a:ext>
                  </a:extLst>
                </a:gridCol>
              </a:tblGrid>
              <a:tr h="674139">
                <a:tc>
                  <a:txBody>
                    <a:bodyPr/>
                    <a:lstStyle/>
                    <a:p>
                      <a:pPr algn="ctr">
                        <a:lnSpc>
                          <a:spcPts val="3170"/>
                        </a:lnSpc>
                        <a:defRPr/>
                      </a:pPr>
                      <a:r>
                        <a:rPr lang="en-US" sz="2264">
                          <a:solidFill>
                            <a:srgbClr val="FFFFFF"/>
                          </a:solidFill>
                          <a:latin typeface="Open Sauce"/>
                          <a:ea typeface="Open Sauce"/>
                          <a:cs typeface="Open Sauce"/>
                          <a:sym typeface="Open Sauce"/>
                        </a:rPr>
                        <a:t>TIME</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solidFill>
                      <a:srgbClr val="303870"/>
                    </a:solidFill>
                  </a:tcPr>
                </a:tc>
                <a:tc>
                  <a:txBody>
                    <a:bodyPr/>
                    <a:lstStyle/>
                    <a:p>
                      <a:pPr algn="ctr">
                        <a:lnSpc>
                          <a:spcPts val="3170"/>
                        </a:lnSpc>
                        <a:defRPr/>
                      </a:pPr>
                      <a:r>
                        <a:rPr lang="en-US" sz="2264" b="1">
                          <a:solidFill>
                            <a:srgbClr val="FFFFFF"/>
                          </a:solidFill>
                          <a:latin typeface="Open Sauce Bold"/>
                          <a:ea typeface="Open Sauce Bold"/>
                          <a:cs typeface="Open Sauce Bold"/>
                          <a:sym typeface="Open Sauce Bold"/>
                        </a:rPr>
                        <a:t>EVENT</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solidFill>
                      <a:srgbClr val="303870"/>
                    </a:solidFill>
                  </a:tcPr>
                </a:tc>
                <a:extLst>
                  <a:ext uri="{0D108BD9-81ED-4DB2-BD59-A6C34878D82A}">
                    <a16:rowId xmlns:a16="http://schemas.microsoft.com/office/drawing/2014/main" val="10000"/>
                  </a:ext>
                </a:extLst>
              </a:tr>
              <a:tr h="948615">
                <a:tc>
                  <a:txBody>
                    <a:bodyPr/>
                    <a:lstStyle/>
                    <a:p>
                      <a:pPr algn="ctr">
                        <a:lnSpc>
                          <a:spcPts val="2914"/>
                        </a:lnSpc>
                        <a:defRPr/>
                      </a:pPr>
                      <a:r>
                        <a:rPr lang="en-US" sz="2081">
                          <a:solidFill>
                            <a:srgbClr val="1C191A"/>
                          </a:solidFill>
                          <a:latin typeface="Open Sauce"/>
                          <a:ea typeface="Open Sauce"/>
                          <a:cs typeface="Open Sauce"/>
                          <a:sym typeface="Open Sauce"/>
                        </a:rPr>
                        <a:t>T+0 min</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tc>
                  <a:txBody>
                    <a:bodyPr/>
                    <a:lstStyle/>
                    <a:p>
                      <a:pPr algn="ctr">
                        <a:lnSpc>
                          <a:spcPts val="2914"/>
                        </a:lnSpc>
                        <a:defRPr/>
                      </a:pPr>
                      <a:r>
                        <a:rPr lang="en-US" sz="2081">
                          <a:solidFill>
                            <a:srgbClr val="1C191A"/>
                          </a:solidFill>
                          <a:latin typeface="Open Sauce"/>
                          <a:ea typeface="Open Sauce"/>
                          <a:cs typeface="Open Sauce"/>
                          <a:sym typeface="Open Sauce"/>
                        </a:rPr>
                        <a:t>Attacker starts Telnet brute-force on Port 23</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11300">
                <a:tc>
                  <a:txBody>
                    <a:bodyPr/>
                    <a:lstStyle/>
                    <a:p>
                      <a:pPr algn="ctr">
                        <a:lnSpc>
                          <a:spcPts val="2914"/>
                        </a:lnSpc>
                        <a:defRPr/>
                      </a:pPr>
                      <a:r>
                        <a:rPr lang="en-US" sz="2081">
                          <a:solidFill>
                            <a:srgbClr val="1C191A"/>
                          </a:solidFill>
                          <a:latin typeface="Open Sauce"/>
                          <a:ea typeface="Open Sauce"/>
                          <a:cs typeface="Open Sauce"/>
                          <a:sym typeface="Open Sauce"/>
                        </a:rPr>
                        <a:t>T+2 min</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tc>
                  <a:txBody>
                    <a:bodyPr/>
                    <a:lstStyle/>
                    <a:p>
                      <a:pPr algn="ctr">
                        <a:lnSpc>
                          <a:spcPts val="2914"/>
                        </a:lnSpc>
                        <a:defRPr/>
                      </a:pPr>
                      <a:r>
                        <a:rPr lang="en-US" sz="2081">
                          <a:solidFill>
                            <a:srgbClr val="1C191A"/>
                          </a:solidFill>
                          <a:latin typeface="Open Sauce"/>
                          <a:ea typeface="Open Sauce"/>
                          <a:cs typeface="Open Sauce"/>
                          <a:sym typeface="Open Sauce"/>
                        </a:rPr>
                        <a:t>Attacker successfully logs in using "root:123456"</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23916">
                <a:tc>
                  <a:txBody>
                    <a:bodyPr/>
                    <a:lstStyle/>
                    <a:p>
                      <a:pPr algn="ctr">
                        <a:lnSpc>
                          <a:spcPts val="2914"/>
                        </a:lnSpc>
                        <a:defRPr/>
                      </a:pPr>
                      <a:r>
                        <a:rPr lang="en-US" sz="2081">
                          <a:solidFill>
                            <a:srgbClr val="1C191A"/>
                          </a:solidFill>
                          <a:latin typeface="Open Sauce"/>
                          <a:ea typeface="Open Sauce"/>
                          <a:cs typeface="Open Sauce"/>
                          <a:sym typeface="Open Sauce"/>
                        </a:rPr>
                        <a:t>T+3 min</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tc>
                  <a:txBody>
                    <a:bodyPr/>
                    <a:lstStyle/>
                    <a:p>
                      <a:pPr algn="ctr">
                        <a:lnSpc>
                          <a:spcPts val="2914"/>
                        </a:lnSpc>
                        <a:defRPr/>
                      </a:pPr>
                      <a:r>
                        <a:rPr lang="en-US" sz="2081">
                          <a:solidFill>
                            <a:srgbClr val="1C191A"/>
                          </a:solidFill>
                          <a:latin typeface="Open Sauce"/>
                          <a:ea typeface="Open Sauce"/>
                          <a:cs typeface="Open Sauce"/>
                          <a:sym typeface="Open Sauce"/>
                        </a:rPr>
                        <a:t>Device starts sending outbound traffic to C2 servers</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73444">
                <a:tc>
                  <a:txBody>
                    <a:bodyPr/>
                    <a:lstStyle/>
                    <a:p>
                      <a:pPr algn="ctr">
                        <a:lnSpc>
                          <a:spcPts val="2914"/>
                        </a:lnSpc>
                        <a:defRPr/>
                      </a:pPr>
                      <a:r>
                        <a:rPr lang="en-US" sz="2081">
                          <a:solidFill>
                            <a:srgbClr val="1C191A"/>
                          </a:solidFill>
                          <a:latin typeface="Open Sauce"/>
                          <a:ea typeface="Open Sauce"/>
                          <a:cs typeface="Open Sauce"/>
                          <a:sym typeface="Open Sauce"/>
                        </a:rPr>
                        <a:t>T+10 min</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tc>
                  <a:txBody>
                    <a:bodyPr/>
                    <a:lstStyle/>
                    <a:p>
                      <a:pPr algn="ctr">
                        <a:lnSpc>
                          <a:spcPts val="2914"/>
                        </a:lnSpc>
                        <a:defRPr/>
                      </a:pPr>
                      <a:r>
                        <a:rPr lang="en-US" sz="2081">
                          <a:solidFill>
                            <a:srgbClr val="1C191A"/>
                          </a:solidFill>
                          <a:latin typeface="Open Sauce"/>
                          <a:ea typeface="Open Sauce"/>
                          <a:cs typeface="Open Sauce"/>
                          <a:sym typeface="Open Sauce"/>
                        </a:rPr>
                        <a:t>Security team applies ACL to block attackers</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85734">
                <a:tc>
                  <a:txBody>
                    <a:bodyPr/>
                    <a:lstStyle/>
                    <a:p>
                      <a:pPr algn="ctr">
                        <a:lnSpc>
                          <a:spcPts val="2836"/>
                        </a:lnSpc>
                        <a:defRPr/>
                      </a:pPr>
                      <a:r>
                        <a:rPr lang="en-US" sz="2025" b="1">
                          <a:solidFill>
                            <a:srgbClr val="1C191A"/>
                          </a:solidFill>
                          <a:latin typeface="Canva Sans Bold"/>
                          <a:ea typeface="Canva Sans Bold"/>
                          <a:cs typeface="Canva Sans Bold"/>
                          <a:sym typeface="Canva Sans Bold"/>
                        </a:rPr>
                        <a:t>     T+11 min</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tc>
                  <a:txBody>
                    <a:bodyPr/>
                    <a:lstStyle/>
                    <a:p>
                      <a:pPr algn="ctr">
                        <a:lnSpc>
                          <a:spcPts val="2914"/>
                        </a:lnSpc>
                        <a:defRPr/>
                      </a:pPr>
                      <a:r>
                        <a:rPr lang="en-US" sz="2081">
                          <a:solidFill>
                            <a:srgbClr val="1C191A"/>
                          </a:solidFill>
                          <a:latin typeface="Open Sauce"/>
                          <a:ea typeface="Open Sauce"/>
                          <a:cs typeface="Open Sauce"/>
                          <a:sym typeface="Open Sauce"/>
                        </a:rPr>
                        <a:t>All attacker traffic is blocked</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226753">
                <a:tc>
                  <a:txBody>
                    <a:bodyPr/>
                    <a:lstStyle/>
                    <a:p>
                      <a:pPr algn="ctr">
                        <a:lnSpc>
                          <a:spcPts val="2914"/>
                        </a:lnSpc>
                        <a:defRPr/>
                      </a:pPr>
                      <a:r>
                        <a:rPr lang="en-US" sz="2081">
                          <a:solidFill>
                            <a:srgbClr val="1C191A"/>
                          </a:solidFill>
                          <a:latin typeface="Open Sauce"/>
                          <a:ea typeface="Open Sauce"/>
                          <a:cs typeface="Open Sauce"/>
                          <a:sym typeface="Open Sauce"/>
                        </a:rPr>
                        <a:t>T+12 min</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tc>
                  <a:txBody>
                    <a:bodyPr/>
                    <a:lstStyle/>
                    <a:p>
                      <a:pPr algn="ctr">
                        <a:lnSpc>
                          <a:spcPts val="2914"/>
                        </a:lnSpc>
                        <a:defRPr/>
                      </a:pPr>
                      <a:r>
                        <a:rPr lang="en-US" sz="2081">
                          <a:solidFill>
                            <a:srgbClr val="1C191A"/>
                          </a:solidFill>
                          <a:latin typeface="Open Sauce"/>
                          <a:ea typeface="Open Sauce"/>
                          <a:cs typeface="Open Sauce"/>
                          <a:sym typeface="Open Sauce"/>
                        </a:rPr>
                        <a:t>Port security and VLAN isolation enabled</a:t>
                      </a:r>
                      <a:endParaRPr lang="en-US" sz="1100"/>
                    </a:p>
                  </a:txBody>
                  <a:tcPr marL="116271" marR="116271" marT="116271" marB="116271" anchor="ctr">
                    <a:lnL w="11627" cap="flat" cmpd="sng" algn="ctr">
                      <a:solidFill>
                        <a:srgbClr val="000000"/>
                      </a:solidFill>
                      <a:prstDash val="solid"/>
                      <a:round/>
                      <a:headEnd type="none" w="med" len="med"/>
                      <a:tailEnd type="none" w="med" len="med"/>
                    </a:lnL>
                    <a:lnR w="11627" cap="flat" cmpd="sng" algn="ctr">
                      <a:solidFill>
                        <a:srgbClr val="000000"/>
                      </a:solidFill>
                      <a:prstDash val="solid"/>
                      <a:round/>
                      <a:headEnd type="none" w="med" len="med"/>
                      <a:tailEnd type="none" w="med" len="med"/>
                    </a:lnR>
                    <a:lnT w="11627" cap="flat" cmpd="sng" algn="ctr">
                      <a:solidFill>
                        <a:srgbClr val="000000"/>
                      </a:solidFill>
                      <a:prstDash val="solid"/>
                      <a:round/>
                      <a:headEnd type="none" w="med" len="med"/>
                      <a:tailEnd type="none" w="med" len="med"/>
                    </a:lnT>
                    <a:lnB w="11627"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TextBox 3"/>
          <p:cNvSpPr txBox="1"/>
          <p:nvPr/>
        </p:nvSpPr>
        <p:spPr>
          <a:xfrm>
            <a:off x="4473277" y="762000"/>
            <a:ext cx="9341446" cy="2157048"/>
          </a:xfrm>
          <a:prstGeom prst="rect">
            <a:avLst/>
          </a:prstGeom>
        </p:spPr>
        <p:txBody>
          <a:bodyPr lIns="0" tIns="0" rIns="0" bIns="0" rtlCol="0" anchor="t">
            <a:spAutoFit/>
          </a:bodyPr>
          <a:lstStyle/>
          <a:p>
            <a:pPr algn="ctr">
              <a:lnSpc>
                <a:spcPts val="8048"/>
              </a:lnSpc>
            </a:pPr>
            <a:r>
              <a:rPr lang="en-US" sz="5749" b="1">
                <a:solidFill>
                  <a:srgbClr val="F0F0F0"/>
                </a:solidFill>
                <a:latin typeface="Calibri"/>
                <a:ea typeface="Agrandir Wide Bold"/>
                <a:cs typeface="Agrandir Wide Bold"/>
                <a:sym typeface="Agrandir Wide Bold"/>
              </a:rPr>
              <a:t>Event Timeline</a:t>
            </a:r>
          </a:p>
          <a:p>
            <a:pPr algn="ctr">
              <a:lnSpc>
                <a:spcPts val="8048"/>
              </a:lnSpc>
            </a:pPr>
            <a:endParaRPr lang="en-US" sz="5749" b="1">
              <a:solidFill>
                <a:srgbClr val="F0F0F0"/>
              </a:solidFill>
              <a:latin typeface="Calibri"/>
              <a:ea typeface="Agrandir Wide Bold"/>
              <a:cs typeface="Agrandir Wide Bold"/>
              <a:sym typeface="Agrandir Wide 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aphicFrame>
        <p:nvGraphicFramePr>
          <p:cNvPr id="2" name="Object 2"/>
          <p:cNvGraphicFramePr/>
          <p:nvPr/>
        </p:nvGraphicFramePr>
        <p:xfrm>
          <a:off x="3524888" y="3535867"/>
          <a:ext cx="7543800" cy="2514600"/>
        </p:xfrm>
        <a:graphic>
          <a:graphicData uri="http://schemas.openxmlformats.org/presentationml/2006/ole">
            <mc:AlternateContent xmlns:mc="http://schemas.openxmlformats.org/markup-compatibility/2006">
              <mc:Choice xmlns:v="urn:schemas-microsoft-com:vml" Requires="v">
                <p:oleObj name="Worksheet" r:id="rId2" imgW="9042400" imgH="4013200" progId="Excel.Sheet.12">
                  <p:embed/>
                </p:oleObj>
              </mc:Choice>
              <mc:Fallback>
                <p:oleObj name="Worksheet" r:id="rId2" imgW="9042400" imgH="4013200" progId="Excel.Sheet.12">
                  <p:embed/>
                  <p:pic>
                    <p:nvPicPr>
                      <p:cNvPr id="2" name="Object 2"/>
                      <p:cNvPicPr/>
                      <p:nvPr/>
                    </p:nvPicPr>
                    <p:blipFill>
                      <a:blip r:embed="rId3"/>
                      <a:stretch>
                        <a:fillRect/>
                      </a:stretch>
                    </p:blipFill>
                    <p:spPr>
                      <a:xfrm>
                        <a:off x="3524888" y="3535867"/>
                        <a:ext cx="7543800" cy="2514600"/>
                      </a:xfrm>
                      <a:prstGeom prst="rect">
                        <a:avLst/>
                      </a:prstGeom>
                    </p:spPr>
                  </p:pic>
                </p:oleObj>
              </mc:Fallback>
            </mc:AlternateContent>
          </a:graphicData>
        </a:graphic>
      </p:graphicFrame>
      <p:sp>
        <p:nvSpPr>
          <p:cNvPr id="3" name="TextBox 3"/>
          <p:cNvSpPr txBox="1"/>
          <p:nvPr/>
        </p:nvSpPr>
        <p:spPr>
          <a:xfrm>
            <a:off x="2891637" y="465389"/>
            <a:ext cx="12504727" cy="1543685"/>
          </a:xfrm>
          <a:prstGeom prst="rect">
            <a:avLst/>
          </a:prstGeom>
        </p:spPr>
        <p:txBody>
          <a:bodyPr lIns="0" tIns="0" rIns="0" bIns="0" rtlCol="0" anchor="t">
            <a:spAutoFit/>
          </a:bodyPr>
          <a:lstStyle/>
          <a:p>
            <a:pPr algn="ctr">
              <a:lnSpc>
                <a:spcPts val="5740"/>
              </a:lnSpc>
            </a:pPr>
            <a:r>
              <a:rPr lang="en-US" sz="4100" b="1">
                <a:solidFill>
                  <a:srgbClr val="F0F0F0"/>
                </a:solidFill>
                <a:latin typeface="Calibri"/>
                <a:ea typeface="Agrandir Wide Bold"/>
                <a:cs typeface="Agrandir Wide Bold"/>
                <a:sym typeface="Agrandir Wide Bold"/>
              </a:rPr>
              <a:t>Mitigation: VLAN Segmentation</a:t>
            </a:r>
          </a:p>
          <a:p>
            <a:pPr algn="ctr">
              <a:lnSpc>
                <a:spcPts val="5740"/>
              </a:lnSpc>
            </a:pPr>
            <a:endParaRPr lang="en-US" sz="4100" b="1">
              <a:solidFill>
                <a:srgbClr val="F0F0F0"/>
              </a:solidFill>
              <a:latin typeface="Calibri"/>
              <a:ea typeface="Agrandir Wide Bold"/>
              <a:cs typeface="Agrandir Wide Bold"/>
              <a:sym typeface="Agrandir Wide Bold"/>
            </a:endParaRPr>
          </a:p>
        </p:txBody>
      </p:sp>
      <p:sp>
        <p:nvSpPr>
          <p:cNvPr id="4" name="TextBox 4"/>
          <p:cNvSpPr txBox="1"/>
          <p:nvPr/>
        </p:nvSpPr>
        <p:spPr>
          <a:xfrm>
            <a:off x="425115" y="1776029"/>
            <a:ext cx="16696486" cy="1240155"/>
          </a:xfrm>
          <a:prstGeom prst="rect">
            <a:avLst/>
          </a:prstGeom>
        </p:spPr>
        <p:txBody>
          <a:bodyPr lIns="0" tIns="0" rIns="0" bIns="0" rtlCol="0" anchor="t">
            <a:spAutoFit/>
          </a:bodyPr>
          <a:lstStyle/>
          <a:p>
            <a:pPr algn="ctr">
              <a:lnSpc>
                <a:spcPts val="4620"/>
              </a:lnSpc>
            </a:pPr>
            <a:r>
              <a:rPr lang="en-US" sz="3300">
                <a:solidFill>
                  <a:srgbClr val="F0F0F0"/>
                </a:solidFill>
                <a:latin typeface="Calibri"/>
                <a:ea typeface="Agrandir Wide"/>
                <a:cs typeface="Agrandir Wide"/>
                <a:sym typeface="Agrandir Wide"/>
              </a:rPr>
              <a:t>Problem: All devices were on the same flat network , attacker could reach everything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aphicFrame>
        <p:nvGraphicFramePr>
          <p:cNvPr id="2" name="Object 2"/>
          <p:cNvGraphicFramePr/>
          <p:nvPr/>
        </p:nvGraphicFramePr>
        <p:xfrm>
          <a:off x="568421" y="2811145"/>
          <a:ext cx="13201650" cy="4400550"/>
        </p:xfrm>
        <a:graphic>
          <a:graphicData uri="http://schemas.openxmlformats.org/presentationml/2006/ole">
            <mc:AlternateContent xmlns:mc="http://schemas.openxmlformats.org/markup-compatibility/2006">
              <mc:Choice xmlns:v="urn:schemas-microsoft-com:vml" Requires="v">
                <p:oleObj name="Worksheet" r:id="rId2" imgW="15836900" imgH="7035800" progId="Excel.Sheet.12">
                  <p:embed/>
                </p:oleObj>
              </mc:Choice>
              <mc:Fallback>
                <p:oleObj name="Worksheet" r:id="rId2" imgW="15836900" imgH="7035800" progId="Excel.Sheet.12">
                  <p:embed/>
                  <p:pic>
                    <p:nvPicPr>
                      <p:cNvPr id="2" name="Object 2"/>
                      <p:cNvPicPr/>
                      <p:nvPr/>
                    </p:nvPicPr>
                    <p:blipFill>
                      <a:blip r:embed="rId3"/>
                      <a:stretch>
                        <a:fillRect/>
                      </a:stretch>
                    </p:blipFill>
                    <p:spPr>
                      <a:xfrm>
                        <a:off x="568421" y="2811145"/>
                        <a:ext cx="13201650" cy="4400550"/>
                      </a:xfrm>
                      <a:prstGeom prst="rect">
                        <a:avLst/>
                      </a:prstGeom>
                    </p:spPr>
                  </p:pic>
                </p:oleObj>
              </mc:Fallback>
            </mc:AlternateContent>
          </a:graphicData>
        </a:graphic>
      </p:graphicFrame>
      <p:sp>
        <p:nvSpPr>
          <p:cNvPr id="3" name="TextBox 3"/>
          <p:cNvSpPr txBox="1"/>
          <p:nvPr/>
        </p:nvSpPr>
        <p:spPr>
          <a:xfrm>
            <a:off x="4473277" y="762000"/>
            <a:ext cx="9341446" cy="1138901"/>
          </a:xfrm>
          <a:prstGeom prst="rect">
            <a:avLst/>
          </a:prstGeom>
        </p:spPr>
        <p:txBody>
          <a:bodyPr lIns="0" tIns="0" rIns="0" bIns="0" rtlCol="0" anchor="t">
            <a:spAutoFit/>
          </a:bodyPr>
          <a:lstStyle/>
          <a:p>
            <a:r>
              <a:t>SECURITY RISK ASSESSMENT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graphicFrame>
        <p:nvGraphicFramePr>
          <p:cNvPr id="2" name="Object 2"/>
          <p:cNvGraphicFramePr/>
          <p:nvPr/>
        </p:nvGraphicFramePr>
        <p:xfrm>
          <a:off x="2848549" y="1812977"/>
          <a:ext cx="9429750" cy="3305127"/>
        </p:xfrm>
        <a:graphic>
          <a:graphicData uri="http://schemas.openxmlformats.org/presentationml/2006/ole">
            <mc:AlternateContent xmlns:mc="http://schemas.openxmlformats.org/markup-compatibility/2006">
              <mc:Choice xmlns:v="urn:schemas-microsoft-com:vml" Requires="v">
                <p:oleObj name="Worksheet" r:id="rId2" imgW="11315700" imgH="5181600" progId="Excel.Sheet.12">
                  <p:embed/>
                </p:oleObj>
              </mc:Choice>
              <mc:Fallback>
                <p:oleObj name="Worksheet" r:id="rId2" imgW="11315700" imgH="5181600" progId="Excel.Sheet.12">
                  <p:embed/>
                  <p:pic>
                    <p:nvPicPr>
                      <p:cNvPr id="2" name="Object 2"/>
                      <p:cNvPicPr/>
                      <p:nvPr/>
                    </p:nvPicPr>
                    <p:blipFill>
                      <a:blip r:embed="rId3"/>
                      <a:stretch>
                        <a:fillRect/>
                      </a:stretch>
                    </p:blipFill>
                    <p:spPr>
                      <a:xfrm>
                        <a:off x="2848549" y="1812977"/>
                        <a:ext cx="9429750" cy="3305127"/>
                      </a:xfrm>
                      <a:prstGeom prst="rect">
                        <a:avLst/>
                      </a:prstGeom>
                    </p:spPr>
                  </p:pic>
                </p:oleObj>
              </mc:Fallback>
            </mc:AlternateContent>
          </a:graphicData>
        </a:graphic>
      </p:graphicFrame>
      <p:sp>
        <p:nvSpPr>
          <p:cNvPr id="3" name="TextBox 3"/>
          <p:cNvSpPr txBox="1"/>
          <p:nvPr/>
        </p:nvSpPr>
        <p:spPr>
          <a:xfrm>
            <a:off x="5290569" y="639965"/>
            <a:ext cx="8311201" cy="1498600"/>
          </a:xfrm>
          <a:prstGeom prst="rect">
            <a:avLst/>
          </a:prstGeom>
        </p:spPr>
        <p:txBody>
          <a:bodyPr lIns="0" tIns="0" rIns="0" bIns="0" rtlCol="0" anchor="t">
            <a:spAutoFit/>
          </a:bodyPr>
          <a:lstStyle/>
          <a:p>
            <a:pPr algn="ctr">
              <a:lnSpc>
                <a:spcPts val="5599"/>
              </a:lnSpc>
            </a:pPr>
            <a:r>
              <a:rPr lang="en-US" sz="3999" b="1">
                <a:solidFill>
                  <a:srgbClr val="F0F0F0"/>
                </a:solidFill>
                <a:latin typeface="Calibri"/>
                <a:ea typeface="Agrandir Wide Bold"/>
                <a:cs typeface="Agrandir Wide Bold"/>
                <a:sym typeface="Agrandir Wide Bold"/>
              </a:rPr>
              <a:t>Final Security Test Results</a:t>
            </a:r>
          </a:p>
          <a:p>
            <a:pPr algn="ctr">
              <a:lnSpc>
                <a:spcPts val="5599"/>
              </a:lnSpc>
            </a:pPr>
            <a:endParaRPr lang="en-US" sz="3999" b="1">
              <a:solidFill>
                <a:srgbClr val="F0F0F0"/>
              </a:solidFill>
              <a:latin typeface="Calibri"/>
              <a:ea typeface="Agrandir Wide Bold"/>
              <a:cs typeface="Agrandir Wide Bold"/>
              <a:sym typeface="Agrandir Wide 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TextBox 2"/>
          <p:cNvSpPr txBox="1"/>
          <p:nvPr/>
        </p:nvSpPr>
        <p:spPr>
          <a:xfrm>
            <a:off x="4473277" y="1393658"/>
            <a:ext cx="10454367" cy="2157048"/>
          </a:xfrm>
          <a:prstGeom prst="rect">
            <a:avLst/>
          </a:prstGeom>
        </p:spPr>
        <p:txBody>
          <a:bodyPr lIns="0" tIns="0" rIns="0" bIns="0" rtlCol="0" anchor="t">
            <a:spAutoFit/>
          </a:bodyPr>
          <a:lstStyle/>
          <a:p>
            <a:pPr algn="ctr">
              <a:lnSpc>
                <a:spcPts val="8048"/>
              </a:lnSpc>
            </a:pPr>
            <a:r>
              <a:rPr lang="en-US" sz="5749" b="1">
                <a:solidFill>
                  <a:srgbClr val="F0F0F0"/>
                </a:solidFill>
                <a:latin typeface="Calibri"/>
                <a:ea typeface="Agrandir Wide Bold"/>
                <a:cs typeface="Agrandir Wide Bold"/>
                <a:sym typeface="Agrandir Wide Bold"/>
              </a:rPr>
              <a:t>GITHUB REPOSITORY LINK</a:t>
            </a:r>
          </a:p>
        </p:txBody>
      </p:sp>
      <p:sp>
        <p:nvSpPr>
          <p:cNvPr id="3" name="TextBox 3"/>
          <p:cNvSpPr txBox="1"/>
          <p:nvPr/>
        </p:nvSpPr>
        <p:spPr>
          <a:xfrm>
            <a:off x="2995015" y="5447799"/>
            <a:ext cx="14070932" cy="1680525"/>
          </a:xfrm>
          <a:prstGeom prst="rect">
            <a:avLst/>
          </a:prstGeom>
        </p:spPr>
        <p:txBody>
          <a:bodyPr lIns="0" tIns="0" rIns="0" bIns="0" rtlCol="0" anchor="t">
            <a:spAutoFit/>
          </a:bodyPr>
          <a:lstStyle/>
          <a:p>
            <a:pPr marL="842000" lvl="1" indent="-421000">
              <a:lnSpc>
                <a:spcPts val="6863"/>
              </a:lnSpc>
              <a:buFont typeface="Arial"/>
              <a:buChar char="•"/>
            </a:pPr>
            <a:r>
              <a:rPr lang="en-US" sz="4400" u="sng" dirty="0">
                <a:solidFill>
                  <a:schemeClr val="accent1">
                    <a:lumMod val="20000"/>
                    <a:lumOff val="80000"/>
                  </a:schemeClr>
                </a:solidFill>
              </a:rPr>
              <a:t>https://github.com/shaiza124/CN-LAB-Problem-7.git</a:t>
            </a:r>
            <a:endParaRPr lang="en-US" sz="4400" dirty="0">
              <a:solidFill>
                <a:schemeClr val="accent1">
                  <a:lumMod val="20000"/>
                  <a:lumOff val="80000"/>
                </a:schemeClr>
              </a:solidFill>
            </a:endParaRPr>
          </a:p>
          <a:p>
            <a:pPr marL="842000" lvl="1" indent="-421000" algn="l">
              <a:lnSpc>
                <a:spcPts val="6863"/>
              </a:lnSpc>
              <a:buFont typeface="Arial"/>
              <a:buChar char="•"/>
            </a:pPr>
            <a:endParaRPr lang="en-US" sz="3899" b="1" dirty="0">
              <a:solidFill>
                <a:srgbClr val="F0F0F0"/>
              </a:solidFill>
              <a:latin typeface="Calibri"/>
              <a:ea typeface="Nunito Bold"/>
              <a:cs typeface="Nunito Bold"/>
              <a:sym typeface="Nunito Bold"/>
            </a:endParaRPr>
          </a:p>
        </p:txBody>
      </p:sp>
      <p:sp>
        <p:nvSpPr>
          <p:cNvPr id="4" name="Freeform 4"/>
          <p:cNvSpPr/>
          <p:nvPr/>
        </p:nvSpPr>
        <p:spPr>
          <a:xfrm rot="-10800000">
            <a:off x="463973" y="7328548"/>
            <a:ext cx="2753631" cy="2723591"/>
          </a:xfrm>
          <a:custGeom>
            <a:avLst/>
            <a:gdLst/>
            <a:ahLst/>
            <a:cxnLst/>
            <a:rect l="l" t="t" r="r" b="b"/>
            <a:pathLst>
              <a:path w="2753631" h="2723591">
                <a:moveTo>
                  <a:pt x="0" y="0"/>
                </a:moveTo>
                <a:lnTo>
                  <a:pt x="2753631" y="0"/>
                </a:lnTo>
                <a:lnTo>
                  <a:pt x="2753631" y="2723591"/>
                </a:lnTo>
                <a:lnTo>
                  <a:pt x="0" y="2723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5" name="Freeform 5"/>
          <p:cNvSpPr/>
          <p:nvPr/>
        </p:nvSpPr>
        <p:spPr>
          <a:xfrm>
            <a:off x="15136527" y="298562"/>
            <a:ext cx="2753631" cy="2723591"/>
          </a:xfrm>
          <a:custGeom>
            <a:avLst/>
            <a:gdLst/>
            <a:ahLst/>
            <a:cxnLst/>
            <a:rect l="l" t="t" r="r" b="b"/>
            <a:pathLst>
              <a:path w="2753631" h="2723591">
                <a:moveTo>
                  <a:pt x="0" y="0"/>
                </a:moveTo>
                <a:lnTo>
                  <a:pt x="2753631" y="0"/>
                </a:lnTo>
                <a:lnTo>
                  <a:pt x="2753631" y="2723592"/>
                </a:lnTo>
                <a:lnTo>
                  <a:pt x="0" y="272359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TextBox 2"/>
          <p:cNvSpPr txBox="1"/>
          <p:nvPr/>
        </p:nvSpPr>
        <p:spPr>
          <a:xfrm>
            <a:off x="2795414" y="1118614"/>
            <a:ext cx="12697173" cy="1364957"/>
          </a:xfrm>
          <a:prstGeom prst="rect">
            <a:avLst/>
          </a:prstGeom>
        </p:spPr>
        <p:txBody>
          <a:bodyPr lIns="0" tIns="0" rIns="0" bIns="0" rtlCol="0" anchor="t">
            <a:spAutoFit/>
          </a:bodyPr>
          <a:lstStyle/>
          <a:p>
            <a:r>
              <a:t>KEY FINDINGS &amp; CONCLUSION</a:t>
            </a:r>
          </a:p>
        </p:txBody>
      </p:sp>
      <p:sp>
        <p:nvSpPr>
          <p:cNvPr id="3" name="TextBox 3"/>
          <p:cNvSpPr txBox="1"/>
          <p:nvPr/>
        </p:nvSpPr>
        <p:spPr>
          <a:xfrm>
            <a:off x="2248185" y="3241770"/>
            <a:ext cx="13244401" cy="4751580"/>
          </a:xfrm>
          <a:prstGeom prst="rect">
            <a:avLst/>
          </a:prstGeom>
        </p:spPr>
        <p:txBody>
          <a:bodyPr lIns="0" tIns="0" rIns="0" bIns="0" rtlCol="0" anchor="t">
            <a:spAutoFit/>
          </a:bodyPr>
          <a:lstStyle/>
          <a:p>
            <a:pPr algn="just">
              <a:lnSpc>
                <a:spcPts val="5455"/>
              </a:lnSpc>
            </a:pPr>
            <a:r>
              <a:rPr lang="en-US" sz="3099">
                <a:solidFill>
                  <a:srgbClr val="F0F0F0"/>
                </a:solidFill>
                <a:latin typeface="Calibri"/>
                <a:ea typeface="Nunito"/>
                <a:cs typeface="Nunito"/>
                <a:sym typeface="Nunito"/>
              </a:rPr>
              <a:t>In conclusion, we found a Raspberry Pi device that was hacked because it was using default credentials. The attacker used Telnet to break in and then controlled the device remotely from a C2 server. We fixed everything by disabling Telnet, enabling SSH, blocking the attacker's IP, and isolating the device in VLAN 20. All our security tests passed. The network is now safe. The most important lesson here is simple: always change default passwords.</a:t>
            </a:r>
          </a:p>
        </p:txBody>
      </p:sp>
      <p:grpSp>
        <p:nvGrpSpPr>
          <p:cNvPr id="4" name="Group 4"/>
          <p:cNvGrpSpPr/>
          <p:nvPr/>
        </p:nvGrpSpPr>
        <p:grpSpPr>
          <a:xfrm>
            <a:off x="17259300" y="0"/>
            <a:ext cx="3086100" cy="10287000"/>
            <a:chOff x="0" y="0"/>
            <a:chExt cx="812800" cy="2709333"/>
          </a:xfrm>
        </p:grpSpPr>
        <p:sp>
          <p:nvSpPr>
            <p:cNvPr id="5" name="Freeform 5"/>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6" name="TextBox 6"/>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sp>
        <p:nvSpPr>
          <p:cNvPr id="7" name="Freeform 7"/>
          <p:cNvSpPr/>
          <p:nvPr/>
        </p:nvSpPr>
        <p:spPr>
          <a:xfrm rot="-10800000">
            <a:off x="644447" y="7027759"/>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8" name="Freeform 8"/>
          <p:cNvSpPr/>
          <p:nvPr/>
        </p:nvSpPr>
        <p:spPr>
          <a:xfrm rot="5400000">
            <a:off x="-1664294" y="2906886"/>
            <a:ext cx="4740498" cy="392017"/>
          </a:xfrm>
          <a:custGeom>
            <a:avLst/>
            <a:gdLst/>
            <a:ahLst/>
            <a:cxnLst/>
            <a:rect l="l" t="t" r="r" b="b"/>
            <a:pathLst>
              <a:path w="4740498" h="392017">
                <a:moveTo>
                  <a:pt x="0" y="0"/>
                </a:moveTo>
                <a:lnTo>
                  <a:pt x="4740497" y="0"/>
                </a:lnTo>
                <a:lnTo>
                  <a:pt x="4740497" y="392017"/>
                </a:lnTo>
                <a:lnTo>
                  <a:pt x="0" y="3920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9" name="Freeform 9"/>
          <p:cNvSpPr/>
          <p:nvPr/>
        </p:nvSpPr>
        <p:spPr>
          <a:xfrm>
            <a:off x="679284" y="536638"/>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C1223"/>
        </a:solidFill>
        <a:effectLst/>
      </p:bgPr>
    </p:bg>
    <p:spTree>
      <p:nvGrpSpPr>
        <p:cNvPr id="1" name=""/>
        <p:cNvGrpSpPr/>
        <p:nvPr/>
      </p:nvGrpSpPr>
      <p:grpSpPr>
        <a:xfrm>
          <a:off x="0" y="0"/>
          <a:ext cx="0" cy="0"/>
          <a:chOff x="0" y="0"/>
          <a:chExt cx="0" cy="0"/>
        </a:xfrm>
      </p:grpSpPr>
      <p:sp>
        <p:nvSpPr>
          <p:cNvPr id="2" name="TextBox 2"/>
          <p:cNvSpPr txBox="1"/>
          <p:nvPr/>
        </p:nvSpPr>
        <p:spPr>
          <a:xfrm>
            <a:off x="2795414" y="4108230"/>
            <a:ext cx="12697173" cy="1364913"/>
          </a:xfrm>
          <a:prstGeom prst="rect">
            <a:avLst/>
          </a:prstGeom>
        </p:spPr>
        <p:txBody>
          <a:bodyPr lIns="0" tIns="0" rIns="0" bIns="0" rtlCol="0" anchor="t">
            <a:spAutoFit/>
          </a:bodyPr>
          <a:lstStyle/>
          <a:p>
            <a:pPr algn="ctr">
              <a:lnSpc>
                <a:spcPts val="8974"/>
              </a:lnSpc>
            </a:pPr>
            <a:r>
              <a:rPr lang="en-US" sz="7872" b="1">
                <a:solidFill>
                  <a:srgbClr val="F0F0F0"/>
                </a:solidFill>
                <a:latin typeface="Calibri"/>
                <a:ea typeface="Agrandir Wide Bold"/>
                <a:cs typeface="Agrandir Wide Bold"/>
                <a:sym typeface="Agrandir Wide Bold"/>
              </a:rPr>
              <a:t>THANK YOU </a:t>
            </a:r>
          </a:p>
        </p:txBody>
      </p:sp>
      <p:grpSp>
        <p:nvGrpSpPr>
          <p:cNvPr id="3" name="Group 3"/>
          <p:cNvGrpSpPr/>
          <p:nvPr/>
        </p:nvGrpSpPr>
        <p:grpSpPr>
          <a:xfrm>
            <a:off x="17259300" y="0"/>
            <a:ext cx="3086100" cy="10287000"/>
            <a:chOff x="0" y="0"/>
            <a:chExt cx="812800" cy="2709333"/>
          </a:xfrm>
        </p:grpSpPr>
        <p:sp>
          <p:nvSpPr>
            <p:cNvPr id="4" name="Freeform 4"/>
            <p:cNvSpPr/>
            <p:nvPr/>
          </p:nvSpPr>
          <p:spPr>
            <a:xfrm>
              <a:off x="0" y="0"/>
              <a:ext cx="812800" cy="2709333"/>
            </a:xfrm>
            <a:custGeom>
              <a:avLst/>
              <a:gdLst/>
              <a:ahLst/>
              <a:cxnLst/>
              <a:rect l="l" t="t" r="r" b="b"/>
              <a:pathLst>
                <a:path w="812800" h="2709333">
                  <a:moveTo>
                    <a:pt x="90311" y="0"/>
                  </a:moveTo>
                  <a:lnTo>
                    <a:pt x="722489" y="0"/>
                  </a:lnTo>
                  <a:cubicBezTo>
                    <a:pt x="746441" y="0"/>
                    <a:pt x="769412" y="9515"/>
                    <a:pt x="786348" y="26452"/>
                  </a:cubicBezTo>
                  <a:cubicBezTo>
                    <a:pt x="803285" y="43388"/>
                    <a:pt x="812800" y="66359"/>
                    <a:pt x="812800" y="90311"/>
                  </a:cubicBezTo>
                  <a:lnTo>
                    <a:pt x="812800" y="2619022"/>
                  </a:lnTo>
                  <a:cubicBezTo>
                    <a:pt x="812800" y="2642974"/>
                    <a:pt x="803285" y="2665945"/>
                    <a:pt x="786348" y="2682882"/>
                  </a:cubicBezTo>
                  <a:cubicBezTo>
                    <a:pt x="769412" y="2699818"/>
                    <a:pt x="746441" y="2709333"/>
                    <a:pt x="722489" y="2709333"/>
                  </a:cubicBezTo>
                  <a:lnTo>
                    <a:pt x="90311" y="2709333"/>
                  </a:lnTo>
                  <a:cubicBezTo>
                    <a:pt x="40434" y="2709333"/>
                    <a:pt x="0" y="2668900"/>
                    <a:pt x="0" y="2619022"/>
                  </a:cubicBezTo>
                  <a:lnTo>
                    <a:pt x="0" y="90311"/>
                  </a:lnTo>
                  <a:cubicBezTo>
                    <a:pt x="0" y="66359"/>
                    <a:pt x="9515" y="43388"/>
                    <a:pt x="26452" y="26452"/>
                  </a:cubicBezTo>
                  <a:cubicBezTo>
                    <a:pt x="43388" y="9515"/>
                    <a:pt x="66359" y="0"/>
                    <a:pt x="90311" y="0"/>
                  </a:cubicBezTo>
                  <a:close/>
                </a:path>
              </a:pathLst>
            </a:custGeom>
            <a:solidFill>
              <a:srgbClr val="303870"/>
            </a:solidFill>
          </p:spPr>
        </p:sp>
        <p:sp>
          <p:nvSpPr>
            <p:cNvPr id="5" name="TextBox 5"/>
            <p:cNvSpPr txBox="1"/>
            <p:nvPr/>
          </p:nvSpPr>
          <p:spPr>
            <a:xfrm>
              <a:off x="0" y="-95250"/>
              <a:ext cx="812800" cy="2804583"/>
            </a:xfrm>
            <a:prstGeom prst="rect">
              <a:avLst/>
            </a:prstGeom>
          </p:spPr>
          <p:txBody>
            <a:bodyPr lIns="50800" tIns="50800" rIns="50800" bIns="50800" rtlCol="0" anchor="ctr"/>
            <a:lstStyle/>
            <a:p>
              <a:pPr algn="ctr">
                <a:lnSpc>
                  <a:spcPts val="3287"/>
                </a:lnSpc>
              </a:pPr>
              <a:endParaRPr/>
            </a:p>
          </p:txBody>
        </p:sp>
      </p:grpSp>
      <p:sp>
        <p:nvSpPr>
          <p:cNvPr id="6" name="Freeform 6"/>
          <p:cNvSpPr/>
          <p:nvPr/>
        </p:nvSpPr>
        <p:spPr>
          <a:xfrm rot="-10800000">
            <a:off x="644447" y="7027759"/>
            <a:ext cx="2753631" cy="2723591"/>
          </a:xfrm>
          <a:custGeom>
            <a:avLst/>
            <a:gdLst/>
            <a:ahLst/>
            <a:cxnLst/>
            <a:rect l="l" t="t" r="r" b="b"/>
            <a:pathLst>
              <a:path w="2753631" h="2723591">
                <a:moveTo>
                  <a:pt x="0" y="0"/>
                </a:moveTo>
                <a:lnTo>
                  <a:pt x="2753630" y="0"/>
                </a:lnTo>
                <a:lnTo>
                  <a:pt x="2753630" y="2723591"/>
                </a:lnTo>
                <a:lnTo>
                  <a:pt x="0" y="27235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a:p>
        </p:txBody>
      </p:sp>
      <p:sp>
        <p:nvSpPr>
          <p:cNvPr id="7" name="Freeform 7"/>
          <p:cNvSpPr/>
          <p:nvPr/>
        </p:nvSpPr>
        <p:spPr>
          <a:xfrm rot="5400000">
            <a:off x="-1664294" y="2906886"/>
            <a:ext cx="4740498" cy="392017"/>
          </a:xfrm>
          <a:custGeom>
            <a:avLst/>
            <a:gdLst/>
            <a:ahLst/>
            <a:cxnLst/>
            <a:rect l="l" t="t" r="r" b="b"/>
            <a:pathLst>
              <a:path w="4740498" h="392017">
                <a:moveTo>
                  <a:pt x="0" y="0"/>
                </a:moveTo>
                <a:lnTo>
                  <a:pt x="4740497" y="0"/>
                </a:lnTo>
                <a:lnTo>
                  <a:pt x="4740497" y="392017"/>
                </a:lnTo>
                <a:lnTo>
                  <a:pt x="0" y="3920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
        <p:nvSpPr>
          <p:cNvPr id="8" name="Freeform 8"/>
          <p:cNvSpPr/>
          <p:nvPr/>
        </p:nvSpPr>
        <p:spPr>
          <a:xfrm>
            <a:off x="679284" y="536638"/>
            <a:ext cx="4740498" cy="392017"/>
          </a:xfrm>
          <a:custGeom>
            <a:avLst/>
            <a:gdLst/>
            <a:ahLst/>
            <a:cxnLst/>
            <a:rect l="l" t="t" r="r" b="b"/>
            <a:pathLst>
              <a:path w="4740498" h="392017">
                <a:moveTo>
                  <a:pt x="0" y="0"/>
                </a:moveTo>
                <a:lnTo>
                  <a:pt x="4740498" y="0"/>
                </a:lnTo>
                <a:lnTo>
                  <a:pt x="4740498" y="392016"/>
                </a:lnTo>
                <a:lnTo>
                  <a:pt x="0" y="3920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807</Words>
  <Application>Microsoft Office PowerPoint</Application>
  <PresentationFormat>Custom</PresentationFormat>
  <Paragraphs>131</Paragraphs>
  <Slides>20</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9" baseType="lpstr">
      <vt:lpstr>Open Sauce</vt:lpstr>
      <vt:lpstr>Open Sauce Bold</vt:lpstr>
      <vt:lpstr>Arial</vt:lpstr>
      <vt:lpstr>Arimo Bold</vt:lpstr>
      <vt:lpstr>Calibri</vt:lpstr>
      <vt:lpstr>Nunito</vt:lpstr>
      <vt:lpstr>Canva Sans Bold</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pcap forensics</dc:title>
  <dc:creator>user</dc:creator>
  <cp:lastModifiedBy>user</cp:lastModifiedBy>
  <cp:revision>4</cp:revision>
  <dcterms:created xsi:type="dcterms:W3CDTF">2006-08-16T00:00:00Z</dcterms:created>
  <dcterms:modified xsi:type="dcterms:W3CDTF">2026-06-08T21:34:46Z</dcterms:modified>
  <dc:identifier>DAHLtkKHvYA</dc:identifier>
</cp:coreProperties>
</file>